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99AD5"/>
    <a:srgbClr val="EEF1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186" autoAdjust="0"/>
    <p:restoredTop sz="94660"/>
  </p:normalViewPr>
  <p:slideViewPr>
    <p:cSldViewPr snapToGrid="0">
      <p:cViewPr varScale="1">
        <p:scale>
          <a:sx n="40" d="100"/>
          <a:sy n="40" d="100"/>
        </p:scale>
        <p:origin x="48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4DED8-9C4C-4BD7-AAC0-1E079FE412A1}" type="datetimeFigureOut">
              <a:rPr lang="en-US" smtClean="0"/>
              <a:t>23-Dec-25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E98264-ADD9-4D00-9996-B16D5D50D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273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BB8B6-C13B-4D9D-B2AC-D68BC63055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8BE9-95FB-4A0F-BC7B-0CCA078524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EE08C-84EF-4418-97B1-F2EC10C57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29F6C-B560-432B-AEAC-232E8103F1E1}" type="datetime1">
              <a:rPr lang="en-US" smtClean="0"/>
              <a:t>23-Dec-25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CA836-9B88-4F31-9105-38CBD22E9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B00A8-5315-45BA-81C9-B8B8B8512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663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23D15-D2C4-48F9-A6D5-EABD418A5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9F209-B5ED-40B4-9429-210B4BA3F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EA5AA-7DD6-4C01-9C91-F77EFDD6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7545D-762B-42E5-AC2A-114CF75EEBA8}" type="datetime1">
              <a:rPr lang="en-US" smtClean="0"/>
              <a:t>23-Dec-25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42B78-FA23-40E6-ABDD-B9F55D250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2B72C-666A-4E28-8FB4-43BEBE997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75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03B98-0B03-45F3-96D6-AC5783953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4D9F71-22DC-409B-AB81-0B5594919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14222-04A2-4AD7-B3CC-9E34E4794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3A61F-0563-4915-8C8A-7C1A73B9784B}" type="datetime1">
              <a:rPr lang="en-US" smtClean="0"/>
              <a:t>23-Dec-25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8E4A7-F0AC-4F7B-BC72-6A5079BE3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A4FAC-4FEA-4D87-A504-997C90171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645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159A9-289E-4016-BE44-B2F991D3C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BE6F6-E6ED-4EB5-B8CE-93E76945B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953E6-ED5A-42DC-9D8F-F6014A76DC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88A4E9-A957-4A98-A491-EABD6E6DD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5A987-14F9-4FE9-95F8-CDBBED2278F4}" type="datetime1">
              <a:rPr lang="en-US" smtClean="0"/>
              <a:t>23-Dec-25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B9B7FA-747B-4798-ACA5-A82FFA051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767A3-91C3-460C-A98A-BCF622F41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84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C7607-3E62-43EF-A01C-F0CA07B46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490A5-09F8-47D5-9D60-126869C79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ED4720-75C5-4CFE-AFBA-02B2781F8F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F6912D-11D6-474A-9C8D-487983422C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8E0B65-9D52-4A94-B3DA-051DA4EB55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638249-43C4-4773-99C7-A074EB4DC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DDE7-30EA-4795-9782-383DD85E77A6}" type="datetime1">
              <a:rPr lang="en-US" smtClean="0"/>
              <a:t>23-Dec-25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16E5A-4E7D-45A4-8820-F7DAC2DFC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22AAE8-0228-430F-8131-B0C31CCEF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471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BAD33-A31E-4777-A278-FFA72164B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37BF-37B0-4596-8511-A3BA22E35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5B5A5-961F-465B-88BB-21C95D935FCC}" type="datetime1">
              <a:rPr lang="en-US" smtClean="0"/>
              <a:t>23-Dec-25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8596E5-D467-4EA0-B8F8-56144293C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1637B5-82DC-4F0C-8E4A-585D19998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19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E35E8A-427F-4A9E-9E5F-07D9F8B1F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2A564-CE1C-4B21-9756-92A20892C23D}" type="datetime1">
              <a:rPr lang="en-US" smtClean="0"/>
              <a:t>23-Dec-25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51EAAC-286D-47B3-9DFC-E293E0ED1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C0733-3A96-4E4E-8BA9-755ACCA5E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575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8AF3D-4870-4614-B416-C6EA96F7D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F6DAD-61AC-4AE5-BFC2-58BF69887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DEEB1F-B4AC-4839-B679-15731F005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BA0C9-0D03-494E-BAB0-323DF6049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6922C-9067-4D5D-9927-699F89E364B5}" type="datetime1">
              <a:rPr lang="en-US" smtClean="0"/>
              <a:t>23-Dec-25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65AB44-57E6-48F7-8CB4-D0A7DE139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AE276-C549-46A1-86C1-7583BE610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503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D81E6-C17E-440E-8DFA-3B9D699D6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53E2AD-7DF0-466C-86BB-9CE5E53754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932051-256D-440D-A18F-EC1395D0F0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6557BE-894E-46CC-9644-D0BB1E49A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B8A8-863B-47EF-91D7-02690EBABFE9}" type="datetime1">
              <a:rPr lang="en-US" smtClean="0"/>
              <a:t>23-Dec-25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C5C836-FCCC-439E-A188-C284175DE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0420F-75F5-4C76-8242-85408EECE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740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29D8B-8F33-41BF-8399-DEA3E9844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70D609-ACD0-4FCE-87DD-5E20D3DF6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0BC10-CE5A-4A16-8E4E-DDC2BE4F0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D1FF2-FD41-4492-B7A2-6C7F5E12A255}" type="datetime1">
              <a:rPr lang="en-US" smtClean="0"/>
              <a:t>23-Dec-25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411BA-9C91-439F-A70F-FA9A23299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E0AC9-83F7-4396-A8B3-25C5B9963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86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9E5AC9-C86C-430F-AFE4-C3CBBBA63C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0D1AFF-1F5E-4088-93D7-4B4A98B5F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B914B-260E-4924-B18C-EC873C7AC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976A1-0505-4E8B-8266-A99499C1DE5C}" type="datetime1">
              <a:rPr lang="en-US" smtClean="0"/>
              <a:t>23-Dec-25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29C04-A679-4823-B382-6C653DDA6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ECE71-8D23-4D99-8DBC-432531DB6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93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6DEBB4-6798-4301-B85B-48DBB4914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AB972-1891-46C0-BBFD-CF06D097E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C6ABD-887A-4A54-A785-B794BB2B0B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453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EA698A-3F68-49DB-A40B-2E54E72B3F21}" type="datetime1">
              <a:rPr lang="en-US" smtClean="0"/>
              <a:t>23-Dec-25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EFB7F-CEFB-4A7A-ABC2-509C1FBED4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2793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75E12-38F3-4C76-9127-622EEBED29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39740" y="6492875"/>
            <a:ext cx="1112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fld id="{7E79D903-9E4F-4373-B53B-7B158FB547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724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CDD0391-E4FB-4F15-B2A6-CB2975C869AD}"/>
              </a:ext>
            </a:extLst>
          </p:cNvPr>
          <p:cNvSpPr/>
          <p:nvPr/>
        </p:nvSpPr>
        <p:spPr>
          <a:xfrm>
            <a:off x="2667000" y="2951947"/>
            <a:ext cx="6858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>
                <a:solidFill>
                  <a:srgbClr val="000000"/>
                </a:solidFill>
                <a:latin typeface="Helvetica" pitchFamily="2" charset="0"/>
              </a:rPr>
              <a:t>CodeKoro</a:t>
            </a:r>
            <a:r>
              <a:rPr lang="en-US" sz="2800" b="1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Helvetica" pitchFamily="2" charset="0"/>
              </a:rPr>
              <a:t>- A Web-based Programming Problem Judging System</a:t>
            </a:r>
            <a:endParaRPr lang="en-US" sz="2800" b="0" dirty="0">
              <a:effectLst/>
              <a:latin typeface="Helvetica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024473-9154-4CD0-B4CD-F68297499C48}"/>
              </a:ext>
            </a:extLst>
          </p:cNvPr>
          <p:cNvSpPr/>
          <p:nvPr/>
        </p:nvSpPr>
        <p:spPr>
          <a:xfrm>
            <a:off x="164306" y="164306"/>
            <a:ext cx="11863388" cy="65293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072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CDD0391-E4FB-4F15-B2A6-CB2975C869AD}"/>
              </a:ext>
            </a:extLst>
          </p:cNvPr>
          <p:cNvSpPr/>
          <p:nvPr/>
        </p:nvSpPr>
        <p:spPr>
          <a:xfrm>
            <a:off x="2667000" y="902613"/>
            <a:ext cx="6858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>
                <a:solidFill>
                  <a:srgbClr val="000000"/>
                </a:solidFill>
                <a:latin typeface="Helvetica" pitchFamily="2" charset="0"/>
              </a:rPr>
              <a:t>CodeKoro</a:t>
            </a:r>
            <a:r>
              <a:rPr lang="en-US" sz="2800" b="1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Helvetica" pitchFamily="2" charset="0"/>
              </a:rPr>
              <a:t>- A Web-based Programming Problem Judging System</a:t>
            </a:r>
            <a:endParaRPr lang="en-US" sz="2800" b="0" dirty="0">
              <a:effectLst/>
              <a:latin typeface="Helvetica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FF1B09-5EE8-40C6-8613-6058A2DDDA2F}"/>
              </a:ext>
            </a:extLst>
          </p:cNvPr>
          <p:cNvSpPr/>
          <p:nvPr/>
        </p:nvSpPr>
        <p:spPr>
          <a:xfrm>
            <a:off x="2975429" y="2364194"/>
            <a:ext cx="6241142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Presented by: </a:t>
            </a:r>
            <a:r>
              <a:rPr lang="en-US" sz="2400" b="1" dirty="0">
                <a:solidFill>
                  <a:srgbClr val="000000"/>
                </a:solidFill>
                <a:latin typeface="Helvetica" pitchFamily="2" charset="0"/>
              </a:rPr>
              <a:t>Green </a:t>
            </a:r>
            <a:r>
              <a:rPr lang="en-US" sz="2400" b="1" dirty="0" err="1">
                <a:solidFill>
                  <a:srgbClr val="000000"/>
                </a:solidFill>
                <a:latin typeface="Helvetica" pitchFamily="2" charset="0"/>
              </a:rPr>
              <a:t>Chillies</a:t>
            </a:r>
            <a:endParaRPr lang="en-US" sz="2400" b="1" dirty="0">
              <a:solidFill>
                <a:srgbClr val="000000"/>
              </a:solidFill>
              <a:latin typeface="Helvetica" pitchFamily="2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B09E628-BC47-4C28-813C-E81C358912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537528"/>
              </p:ext>
            </p:extLst>
          </p:nvPr>
        </p:nvGraphicFramePr>
        <p:xfrm>
          <a:off x="2975428" y="3428999"/>
          <a:ext cx="6241142" cy="240792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2523672">
                  <a:extLst>
                    <a:ext uri="{9D8B030D-6E8A-4147-A177-3AD203B41FA5}">
                      <a16:colId xmlns:a16="http://schemas.microsoft.com/office/drawing/2014/main" val="3217914947"/>
                    </a:ext>
                  </a:extLst>
                </a:gridCol>
                <a:gridCol w="3717470">
                  <a:extLst>
                    <a:ext uri="{9D8B030D-6E8A-4147-A177-3AD203B41FA5}">
                      <a16:colId xmlns:a16="http://schemas.microsoft.com/office/drawing/2014/main" val="33890691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u="none" strike="noStrike" dirty="0">
                          <a:effectLst/>
                          <a:latin typeface="Helvetica" pitchFamily="2" charset="0"/>
                        </a:rPr>
                        <a:t>           ID</a:t>
                      </a:r>
                      <a:endParaRPr lang="en-US" sz="1800" b="1" dirty="0">
                        <a:effectLst/>
                        <a:latin typeface="Helvetica" pitchFamily="2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u="none" strike="noStrike" dirty="0">
                          <a:effectLst/>
                          <a:latin typeface="Helvetica" pitchFamily="2" charset="0"/>
                        </a:rPr>
                        <a:t>Name</a:t>
                      </a:r>
                      <a:endParaRPr lang="en-US" sz="1800" b="1" dirty="0">
                        <a:effectLst/>
                        <a:latin typeface="Helvetica" pitchFamily="2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710681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 dirty="0">
                          <a:effectLst/>
                          <a:latin typeface="Helvetica" pitchFamily="2" charset="0"/>
                        </a:rPr>
                        <a:t>22103397</a:t>
                      </a:r>
                      <a:endParaRPr lang="en-US" sz="1800" dirty="0">
                        <a:effectLst/>
                        <a:latin typeface="Helvetica" pitchFamily="2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 dirty="0" err="1">
                          <a:effectLst/>
                          <a:latin typeface="Helvetica" pitchFamily="2" charset="0"/>
                        </a:rPr>
                        <a:t>Nahida</a:t>
                      </a:r>
                      <a:r>
                        <a:rPr lang="en-US" sz="1800" u="none" strike="noStrike" dirty="0">
                          <a:effectLst/>
                          <a:latin typeface="Helvetica" pitchFamily="2" charset="0"/>
                        </a:rPr>
                        <a:t> Ahmed Suma</a:t>
                      </a:r>
                      <a:endParaRPr lang="en-US" sz="1800" dirty="0">
                        <a:effectLst/>
                        <a:latin typeface="Helvetica" pitchFamily="2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1981375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 dirty="0">
                          <a:effectLst/>
                          <a:latin typeface="Helvetica" pitchFamily="2" charset="0"/>
                        </a:rPr>
                        <a:t>22203091</a:t>
                      </a:r>
                      <a:endParaRPr lang="en-US" sz="1800" dirty="0">
                        <a:effectLst/>
                        <a:latin typeface="Helvetica" pitchFamily="2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 dirty="0" err="1">
                          <a:effectLst/>
                          <a:latin typeface="Helvetica" pitchFamily="2" charset="0"/>
                        </a:rPr>
                        <a:t>Samiya</a:t>
                      </a:r>
                      <a:r>
                        <a:rPr lang="en-US" sz="1800" u="none" strike="noStrike" dirty="0">
                          <a:effectLst/>
                          <a:latin typeface="Helvetica" pitchFamily="2" charset="0"/>
                        </a:rPr>
                        <a:t> </a:t>
                      </a:r>
                      <a:r>
                        <a:rPr lang="en-US" sz="1800" u="none" strike="noStrike" dirty="0" err="1">
                          <a:effectLst/>
                          <a:latin typeface="Helvetica" pitchFamily="2" charset="0"/>
                        </a:rPr>
                        <a:t>Tasnim</a:t>
                      </a:r>
                      <a:r>
                        <a:rPr lang="en-US" sz="1800" u="none" strike="noStrike" dirty="0">
                          <a:effectLst/>
                          <a:latin typeface="Helvetica" pitchFamily="2" charset="0"/>
                        </a:rPr>
                        <a:t> Neha</a:t>
                      </a:r>
                      <a:endParaRPr lang="en-US" sz="1800" dirty="0">
                        <a:effectLst/>
                        <a:latin typeface="Helvetica" pitchFamily="2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507446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>
                          <a:effectLst/>
                          <a:latin typeface="Helvetica" pitchFamily="2" charset="0"/>
                        </a:rPr>
                        <a:t>22203097</a:t>
                      </a:r>
                      <a:endParaRPr lang="en-US" sz="1800">
                        <a:effectLst/>
                        <a:latin typeface="Helvetica" pitchFamily="2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800" u="none" strike="noStrike" dirty="0">
                          <a:effectLst/>
                          <a:latin typeface="Helvetica" pitchFamily="2" charset="0"/>
                        </a:rPr>
                        <a:t>Md. </a:t>
                      </a:r>
                      <a:r>
                        <a:rPr lang="fr-FR" sz="1800" u="none" strike="noStrike" dirty="0" err="1">
                          <a:effectLst/>
                          <a:latin typeface="Helvetica" pitchFamily="2" charset="0"/>
                        </a:rPr>
                        <a:t>Tanvir</a:t>
                      </a:r>
                      <a:r>
                        <a:rPr lang="fr-FR" sz="1800" u="none" strike="noStrike" dirty="0">
                          <a:effectLst/>
                          <a:latin typeface="Helvetica" pitchFamily="2" charset="0"/>
                        </a:rPr>
                        <a:t> Ahmed </a:t>
                      </a:r>
                      <a:r>
                        <a:rPr lang="fr-FR" sz="1800" u="none" strike="noStrike" dirty="0" err="1">
                          <a:effectLst/>
                          <a:latin typeface="Helvetica" pitchFamily="2" charset="0"/>
                        </a:rPr>
                        <a:t>Siddique</a:t>
                      </a:r>
                      <a:endParaRPr lang="fr-FR" sz="1800" dirty="0">
                        <a:effectLst/>
                        <a:latin typeface="Helvetica" pitchFamily="2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375136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>
                          <a:effectLst/>
                          <a:latin typeface="Helvetica" pitchFamily="2" charset="0"/>
                        </a:rPr>
                        <a:t>22203113</a:t>
                      </a:r>
                      <a:endParaRPr lang="en-US" sz="1800">
                        <a:effectLst/>
                        <a:latin typeface="Helvetica" pitchFamily="2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 dirty="0" err="1">
                          <a:effectLst/>
                          <a:latin typeface="Helvetica" pitchFamily="2" charset="0"/>
                        </a:rPr>
                        <a:t>Rume</a:t>
                      </a:r>
                      <a:r>
                        <a:rPr lang="en-US" sz="1800" u="none" strike="noStrike" dirty="0">
                          <a:effectLst/>
                          <a:latin typeface="Helvetica" pitchFamily="2" charset="0"/>
                        </a:rPr>
                        <a:t> </a:t>
                      </a:r>
                      <a:r>
                        <a:rPr lang="en-US" sz="1800" u="none" strike="noStrike" dirty="0" err="1">
                          <a:effectLst/>
                          <a:latin typeface="Helvetica" pitchFamily="2" charset="0"/>
                        </a:rPr>
                        <a:t>Akter</a:t>
                      </a:r>
                      <a:endParaRPr lang="en-US" sz="1800" dirty="0">
                        <a:effectLst/>
                        <a:latin typeface="Helvetica" pitchFamily="2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13688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>
                          <a:effectLst/>
                          <a:latin typeface="Helvetica" pitchFamily="2" charset="0"/>
                        </a:rPr>
                        <a:t>22303266</a:t>
                      </a:r>
                      <a:endParaRPr lang="en-US" sz="1800">
                        <a:effectLst/>
                        <a:latin typeface="Helvetica" pitchFamily="2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 dirty="0">
                          <a:effectLst/>
                          <a:latin typeface="Helvetica" pitchFamily="2" charset="0"/>
                        </a:rPr>
                        <a:t>Md </a:t>
                      </a:r>
                      <a:r>
                        <a:rPr lang="en-US" sz="1800" u="none" strike="noStrike" dirty="0" err="1">
                          <a:effectLst/>
                          <a:latin typeface="Helvetica" pitchFamily="2" charset="0"/>
                        </a:rPr>
                        <a:t>Shojibur</a:t>
                      </a:r>
                      <a:r>
                        <a:rPr lang="en-US" sz="1800" u="none" strike="noStrike" dirty="0">
                          <a:effectLst/>
                          <a:latin typeface="Helvetica" pitchFamily="2" charset="0"/>
                        </a:rPr>
                        <a:t> Rahman Fahad</a:t>
                      </a:r>
                      <a:endParaRPr lang="en-US" sz="1800" dirty="0">
                        <a:effectLst/>
                        <a:latin typeface="Helvetica" pitchFamily="2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095989510"/>
                  </a:ext>
                </a:extLst>
              </a:tr>
            </a:tbl>
          </a:graphicData>
        </a:graphic>
      </p:graphicFrame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1E8DF53-9938-402E-93F0-7DE9738BE4FB}"/>
              </a:ext>
            </a:extLst>
          </p:cNvPr>
          <p:cNvSpPr/>
          <p:nvPr/>
        </p:nvSpPr>
        <p:spPr>
          <a:xfrm>
            <a:off x="164306" y="164305"/>
            <a:ext cx="11863388" cy="6529388"/>
          </a:xfrm>
          <a:custGeom>
            <a:avLst/>
            <a:gdLst>
              <a:gd name="connsiteX0" fmla="*/ 0 w 11863388"/>
              <a:gd name="connsiteY0" fmla="*/ 0 h 6529388"/>
              <a:gd name="connsiteX1" fmla="*/ 11863388 w 11863388"/>
              <a:gd name="connsiteY1" fmla="*/ 0 h 6529388"/>
              <a:gd name="connsiteX2" fmla="*/ 11863388 w 11863388"/>
              <a:gd name="connsiteY2" fmla="*/ 6529388 h 6529388"/>
              <a:gd name="connsiteX3" fmla="*/ 6243043 w 11863388"/>
              <a:gd name="connsiteY3" fmla="*/ 6529388 h 6529388"/>
              <a:gd name="connsiteX4" fmla="*/ 6186640 w 11863388"/>
              <a:gd name="connsiteY4" fmla="*/ 6303776 h 6529388"/>
              <a:gd name="connsiteX5" fmla="*/ 5676748 w 11863388"/>
              <a:gd name="connsiteY5" fmla="*/ 6303776 h 6529388"/>
              <a:gd name="connsiteX6" fmla="*/ 5620345 w 11863388"/>
              <a:gd name="connsiteY6" fmla="*/ 6529388 h 6529388"/>
              <a:gd name="connsiteX7" fmla="*/ 0 w 11863388"/>
              <a:gd name="connsiteY7" fmla="*/ 6529388 h 6529388"/>
              <a:gd name="connsiteX8" fmla="*/ 0 w 11863388"/>
              <a:gd name="connsiteY8" fmla="*/ 0 h 6529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63388" h="6529388">
                <a:moveTo>
                  <a:pt x="0" y="0"/>
                </a:moveTo>
                <a:lnTo>
                  <a:pt x="11863388" y="0"/>
                </a:lnTo>
                <a:lnTo>
                  <a:pt x="11863388" y="6529388"/>
                </a:lnTo>
                <a:lnTo>
                  <a:pt x="6243043" y="6529388"/>
                </a:lnTo>
                <a:lnTo>
                  <a:pt x="6186640" y="6303776"/>
                </a:lnTo>
                <a:lnTo>
                  <a:pt x="5676748" y="6303776"/>
                </a:lnTo>
                <a:lnTo>
                  <a:pt x="5620345" y="6529388"/>
                </a:lnTo>
                <a:lnTo>
                  <a:pt x="0" y="6529388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046135-48FA-4260-A553-5112B70BC47B}"/>
              </a:ext>
            </a:extLst>
          </p:cNvPr>
          <p:cNvSpPr/>
          <p:nvPr/>
        </p:nvSpPr>
        <p:spPr>
          <a:xfrm>
            <a:off x="3746500" y="3028889"/>
            <a:ext cx="4698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000000"/>
                </a:solidFill>
                <a:latin typeface="Helvetica" pitchFamily="2" charset="0"/>
              </a:rPr>
              <a:t>Consisting the members: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28E2B28-2A45-4D4A-B6C7-912F3FF4D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494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CDD0391-E4FB-4F15-B2A6-CB2975C869AD}"/>
              </a:ext>
            </a:extLst>
          </p:cNvPr>
          <p:cNvSpPr/>
          <p:nvPr/>
        </p:nvSpPr>
        <p:spPr>
          <a:xfrm>
            <a:off x="2667000" y="902613"/>
            <a:ext cx="6858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>
                <a:solidFill>
                  <a:srgbClr val="000000"/>
                </a:solidFill>
                <a:latin typeface="Helvetica" pitchFamily="2" charset="0"/>
              </a:rPr>
              <a:t>CodeKoro</a:t>
            </a:r>
            <a:r>
              <a:rPr lang="en-US" sz="2800" b="1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Helvetica" pitchFamily="2" charset="0"/>
              </a:rPr>
              <a:t>- A Web-based Programming Problem Judging System</a:t>
            </a:r>
            <a:endParaRPr lang="en-US" sz="2800" b="0" dirty="0">
              <a:effectLst/>
              <a:latin typeface="Helvetica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FF1B09-5EE8-40C6-8613-6058A2DDDA2F}"/>
              </a:ext>
            </a:extLst>
          </p:cNvPr>
          <p:cNvSpPr/>
          <p:nvPr/>
        </p:nvSpPr>
        <p:spPr>
          <a:xfrm>
            <a:off x="2975429" y="2364194"/>
            <a:ext cx="6241142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Presented by: </a:t>
            </a:r>
            <a:r>
              <a:rPr lang="en-US" sz="2400" b="1" dirty="0">
                <a:solidFill>
                  <a:srgbClr val="000000"/>
                </a:solidFill>
                <a:latin typeface="Helvetica" pitchFamily="2" charset="0"/>
              </a:rPr>
              <a:t>Green </a:t>
            </a:r>
            <a:r>
              <a:rPr lang="en-US" sz="2400" b="1" dirty="0" err="1">
                <a:solidFill>
                  <a:srgbClr val="000000"/>
                </a:solidFill>
                <a:latin typeface="Helvetica" pitchFamily="2" charset="0"/>
              </a:rPr>
              <a:t>Chillies</a:t>
            </a:r>
            <a:endParaRPr lang="en-US" sz="2400" b="1" dirty="0">
              <a:solidFill>
                <a:srgbClr val="000000"/>
              </a:solidFill>
              <a:latin typeface="Helvetica" pitchFamily="2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1E8DF53-9938-402E-93F0-7DE9738BE4FB}"/>
              </a:ext>
            </a:extLst>
          </p:cNvPr>
          <p:cNvSpPr/>
          <p:nvPr/>
        </p:nvSpPr>
        <p:spPr>
          <a:xfrm>
            <a:off x="164306" y="164305"/>
            <a:ext cx="11863388" cy="6529388"/>
          </a:xfrm>
          <a:custGeom>
            <a:avLst/>
            <a:gdLst>
              <a:gd name="connsiteX0" fmla="*/ 0 w 11863388"/>
              <a:gd name="connsiteY0" fmla="*/ 0 h 6529388"/>
              <a:gd name="connsiteX1" fmla="*/ 11863388 w 11863388"/>
              <a:gd name="connsiteY1" fmla="*/ 0 h 6529388"/>
              <a:gd name="connsiteX2" fmla="*/ 11863388 w 11863388"/>
              <a:gd name="connsiteY2" fmla="*/ 6529388 h 6529388"/>
              <a:gd name="connsiteX3" fmla="*/ 6243043 w 11863388"/>
              <a:gd name="connsiteY3" fmla="*/ 6529388 h 6529388"/>
              <a:gd name="connsiteX4" fmla="*/ 6186640 w 11863388"/>
              <a:gd name="connsiteY4" fmla="*/ 6303776 h 6529388"/>
              <a:gd name="connsiteX5" fmla="*/ 5676748 w 11863388"/>
              <a:gd name="connsiteY5" fmla="*/ 6303776 h 6529388"/>
              <a:gd name="connsiteX6" fmla="*/ 5620345 w 11863388"/>
              <a:gd name="connsiteY6" fmla="*/ 6529388 h 6529388"/>
              <a:gd name="connsiteX7" fmla="*/ 0 w 11863388"/>
              <a:gd name="connsiteY7" fmla="*/ 6529388 h 6529388"/>
              <a:gd name="connsiteX8" fmla="*/ 0 w 11863388"/>
              <a:gd name="connsiteY8" fmla="*/ 0 h 6529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63388" h="6529388">
                <a:moveTo>
                  <a:pt x="0" y="0"/>
                </a:moveTo>
                <a:lnTo>
                  <a:pt x="11863388" y="0"/>
                </a:lnTo>
                <a:lnTo>
                  <a:pt x="11863388" y="6529388"/>
                </a:lnTo>
                <a:lnTo>
                  <a:pt x="6243043" y="6529388"/>
                </a:lnTo>
                <a:lnTo>
                  <a:pt x="6186640" y="6303776"/>
                </a:lnTo>
                <a:lnTo>
                  <a:pt x="5676748" y="6303776"/>
                </a:lnTo>
                <a:lnTo>
                  <a:pt x="5620345" y="6529388"/>
                </a:lnTo>
                <a:lnTo>
                  <a:pt x="0" y="6529388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8D56A6-6419-46AD-9382-F99A77FD0470}"/>
              </a:ext>
            </a:extLst>
          </p:cNvPr>
          <p:cNvSpPr/>
          <p:nvPr/>
        </p:nvSpPr>
        <p:spPr>
          <a:xfrm>
            <a:off x="381000" y="3328794"/>
            <a:ext cx="11430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000000"/>
                </a:solidFill>
                <a:latin typeface="Helvetica" pitchFamily="2" charset="0"/>
              </a:rPr>
              <a:t>Instructed by:</a:t>
            </a:r>
          </a:p>
          <a:p>
            <a:pPr algn="ctr"/>
            <a:r>
              <a:rPr lang="en-US" sz="2400" b="1" dirty="0">
                <a:solidFill>
                  <a:srgbClr val="000000"/>
                </a:solidFill>
                <a:latin typeface="Helvetica" pitchFamily="2" charset="0"/>
              </a:rPr>
              <a:t>Md. </a:t>
            </a:r>
            <a:r>
              <a:rPr lang="en-US" sz="2400" b="1" dirty="0" err="1">
                <a:solidFill>
                  <a:srgbClr val="000000"/>
                </a:solidFill>
                <a:latin typeface="Helvetica" pitchFamily="2" charset="0"/>
              </a:rPr>
              <a:t>Rashedul</a:t>
            </a:r>
            <a:r>
              <a:rPr lang="en-US" sz="2400" b="1" dirty="0">
                <a:solidFill>
                  <a:srgbClr val="000000"/>
                </a:solidFill>
                <a:latin typeface="Helvetica" pitchFamily="2" charset="0"/>
              </a:rPr>
              <a:t> Islam</a:t>
            </a:r>
          </a:p>
          <a:p>
            <a:pPr algn="ctr"/>
            <a:r>
              <a:rPr lang="en-US" sz="2000" dirty="0">
                <a:latin typeface="Helvetica" pitchFamily="2" charset="0"/>
              </a:rPr>
              <a:t>Associate Professor and Coordinator</a:t>
            </a:r>
            <a:endParaRPr lang="en-US" sz="2000" b="0" dirty="0">
              <a:effectLst/>
              <a:latin typeface="Helvetica" pitchFamily="2" charset="0"/>
            </a:endParaRPr>
          </a:p>
          <a:p>
            <a:pPr algn="ctr"/>
            <a:r>
              <a:rPr lang="en-US" sz="2000" dirty="0">
                <a:latin typeface="Helvetica" pitchFamily="2" charset="0"/>
              </a:rPr>
              <a:t>Department of Computer Science and Engineering</a:t>
            </a:r>
          </a:p>
          <a:p>
            <a:pPr algn="ctr"/>
            <a:r>
              <a:rPr lang="en-US" sz="2000" b="0" dirty="0">
                <a:effectLst/>
                <a:latin typeface="Helvetica" pitchFamily="2" charset="0"/>
              </a:rPr>
              <a:t>IUBAT – In</a:t>
            </a:r>
            <a:r>
              <a:rPr lang="en-US" sz="2000" dirty="0">
                <a:latin typeface="Helvetica" pitchFamily="2" charset="0"/>
              </a:rPr>
              <a:t>ternational University of Business Agriculture and Technology</a:t>
            </a:r>
            <a:endParaRPr lang="en-US" sz="2000" b="0" dirty="0">
              <a:effectLst/>
              <a:latin typeface="Helvetica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00783C-2487-415D-B722-377A63342040}"/>
              </a:ext>
            </a:extLst>
          </p:cNvPr>
          <p:cNvSpPr/>
          <p:nvPr/>
        </p:nvSpPr>
        <p:spPr>
          <a:xfrm>
            <a:off x="381000" y="5586055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Helvetica" pitchFamily="2" charset="0"/>
              </a:rPr>
              <a:t>December 02, 2025</a:t>
            </a:r>
            <a:endParaRPr lang="en-US" b="0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1FD3A-F6ED-438D-B4E3-4E75C963B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390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CDD0391-E4FB-4F15-B2A6-CB2975C869AD}"/>
              </a:ext>
            </a:extLst>
          </p:cNvPr>
          <p:cNvSpPr/>
          <p:nvPr/>
        </p:nvSpPr>
        <p:spPr>
          <a:xfrm>
            <a:off x="164306" y="164305"/>
            <a:ext cx="11863388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solidFill>
                  <a:srgbClr val="000000"/>
                </a:solidFill>
                <a:latin typeface="Helvetica" pitchFamily="2" charset="0"/>
              </a:rPr>
              <a:t>CodeKoro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Helvetica" pitchFamily="2" charset="0"/>
              </a:rPr>
              <a:t>- A Web-based Programming Problem Judging System 	by 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Green Chilies </a:t>
            </a:r>
            <a:endParaRPr lang="en-US" sz="1600" b="1" dirty="0">
              <a:effectLst/>
              <a:latin typeface="Helvetica" pitchFamily="2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1E8DF53-9938-402E-93F0-7DE9738BE4FB}"/>
              </a:ext>
            </a:extLst>
          </p:cNvPr>
          <p:cNvSpPr/>
          <p:nvPr/>
        </p:nvSpPr>
        <p:spPr>
          <a:xfrm>
            <a:off x="164306" y="164305"/>
            <a:ext cx="11863388" cy="6529388"/>
          </a:xfrm>
          <a:custGeom>
            <a:avLst/>
            <a:gdLst>
              <a:gd name="connsiteX0" fmla="*/ 0 w 11863388"/>
              <a:gd name="connsiteY0" fmla="*/ 0 h 6529388"/>
              <a:gd name="connsiteX1" fmla="*/ 11863388 w 11863388"/>
              <a:gd name="connsiteY1" fmla="*/ 0 h 6529388"/>
              <a:gd name="connsiteX2" fmla="*/ 11863388 w 11863388"/>
              <a:gd name="connsiteY2" fmla="*/ 6529388 h 6529388"/>
              <a:gd name="connsiteX3" fmla="*/ 6243043 w 11863388"/>
              <a:gd name="connsiteY3" fmla="*/ 6529388 h 6529388"/>
              <a:gd name="connsiteX4" fmla="*/ 6186640 w 11863388"/>
              <a:gd name="connsiteY4" fmla="*/ 6303776 h 6529388"/>
              <a:gd name="connsiteX5" fmla="*/ 5676748 w 11863388"/>
              <a:gd name="connsiteY5" fmla="*/ 6303776 h 6529388"/>
              <a:gd name="connsiteX6" fmla="*/ 5620345 w 11863388"/>
              <a:gd name="connsiteY6" fmla="*/ 6529388 h 6529388"/>
              <a:gd name="connsiteX7" fmla="*/ 0 w 11863388"/>
              <a:gd name="connsiteY7" fmla="*/ 6529388 h 6529388"/>
              <a:gd name="connsiteX8" fmla="*/ 0 w 11863388"/>
              <a:gd name="connsiteY8" fmla="*/ 0 h 6529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63388" h="6529388">
                <a:moveTo>
                  <a:pt x="0" y="0"/>
                </a:moveTo>
                <a:lnTo>
                  <a:pt x="11863388" y="0"/>
                </a:lnTo>
                <a:lnTo>
                  <a:pt x="11863388" y="6529388"/>
                </a:lnTo>
                <a:lnTo>
                  <a:pt x="6243043" y="6529388"/>
                </a:lnTo>
                <a:lnTo>
                  <a:pt x="6186640" y="6303776"/>
                </a:lnTo>
                <a:lnTo>
                  <a:pt x="5676748" y="6303776"/>
                </a:lnTo>
                <a:lnTo>
                  <a:pt x="5620345" y="6529388"/>
                </a:lnTo>
                <a:lnTo>
                  <a:pt x="0" y="6529388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8D56A6-6419-46AD-9382-F99A77FD0470}"/>
              </a:ext>
            </a:extLst>
          </p:cNvPr>
          <p:cNvSpPr/>
          <p:nvPr/>
        </p:nvSpPr>
        <p:spPr>
          <a:xfrm>
            <a:off x="2338466" y="1033638"/>
            <a:ext cx="75150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>
                <a:solidFill>
                  <a:srgbClr val="000000"/>
                </a:solidFill>
                <a:latin typeface="Helvetica" pitchFamily="2" charset="0"/>
              </a:rPr>
              <a:t>Contents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ABF120-1AE4-439F-84BB-031C3862ECEE}"/>
              </a:ext>
            </a:extLst>
          </p:cNvPr>
          <p:cNvSpPr/>
          <p:nvPr/>
        </p:nvSpPr>
        <p:spPr>
          <a:xfrm>
            <a:off x="3771900" y="2026082"/>
            <a:ext cx="4648200" cy="2805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Helvetica" pitchFamily="2" charset="0"/>
              </a:rPr>
              <a:t>Introduction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Helvetica" pitchFamily="2" charset="0"/>
              </a:rPr>
              <a:t>Chosen Process Model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Helvetica" pitchFamily="2" charset="0"/>
              </a:rPr>
              <a:t>Reason for Choosing the Model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Helvetica" pitchFamily="2" charset="0"/>
              </a:rPr>
              <a:t>System Features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Helvetica" pitchFamily="2" charset="0"/>
              </a:rPr>
              <a:t>Core Modules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Helvetica" pitchFamily="2" charset="0"/>
              </a:rPr>
              <a:t>Summary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7B02EF-8EF5-48DB-9023-5AF18D0DF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033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CDD0391-E4FB-4F15-B2A6-CB2975C869AD}"/>
              </a:ext>
            </a:extLst>
          </p:cNvPr>
          <p:cNvSpPr/>
          <p:nvPr/>
        </p:nvSpPr>
        <p:spPr>
          <a:xfrm>
            <a:off x="164306" y="164305"/>
            <a:ext cx="11863388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solidFill>
                  <a:srgbClr val="000000"/>
                </a:solidFill>
                <a:latin typeface="Helvetica" pitchFamily="2" charset="0"/>
              </a:rPr>
              <a:t>CodeKoro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Helvetica" pitchFamily="2" charset="0"/>
              </a:rPr>
              <a:t>- A Web-based Programming Problem Judging System 	by 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Green Chilies </a:t>
            </a:r>
            <a:endParaRPr lang="en-US" sz="1600" b="1" dirty="0">
              <a:effectLst/>
              <a:latin typeface="Helvetica" pitchFamily="2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1E8DF53-9938-402E-93F0-7DE9738BE4FB}"/>
              </a:ext>
            </a:extLst>
          </p:cNvPr>
          <p:cNvSpPr/>
          <p:nvPr/>
        </p:nvSpPr>
        <p:spPr>
          <a:xfrm>
            <a:off x="164306" y="164305"/>
            <a:ext cx="11863388" cy="6529388"/>
          </a:xfrm>
          <a:custGeom>
            <a:avLst/>
            <a:gdLst>
              <a:gd name="connsiteX0" fmla="*/ 0 w 11863388"/>
              <a:gd name="connsiteY0" fmla="*/ 0 h 6529388"/>
              <a:gd name="connsiteX1" fmla="*/ 11863388 w 11863388"/>
              <a:gd name="connsiteY1" fmla="*/ 0 h 6529388"/>
              <a:gd name="connsiteX2" fmla="*/ 11863388 w 11863388"/>
              <a:gd name="connsiteY2" fmla="*/ 6529388 h 6529388"/>
              <a:gd name="connsiteX3" fmla="*/ 6243043 w 11863388"/>
              <a:gd name="connsiteY3" fmla="*/ 6529388 h 6529388"/>
              <a:gd name="connsiteX4" fmla="*/ 6186640 w 11863388"/>
              <a:gd name="connsiteY4" fmla="*/ 6303776 h 6529388"/>
              <a:gd name="connsiteX5" fmla="*/ 5676748 w 11863388"/>
              <a:gd name="connsiteY5" fmla="*/ 6303776 h 6529388"/>
              <a:gd name="connsiteX6" fmla="*/ 5620345 w 11863388"/>
              <a:gd name="connsiteY6" fmla="*/ 6529388 h 6529388"/>
              <a:gd name="connsiteX7" fmla="*/ 0 w 11863388"/>
              <a:gd name="connsiteY7" fmla="*/ 6529388 h 6529388"/>
              <a:gd name="connsiteX8" fmla="*/ 0 w 11863388"/>
              <a:gd name="connsiteY8" fmla="*/ 0 h 6529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63388" h="6529388">
                <a:moveTo>
                  <a:pt x="0" y="0"/>
                </a:moveTo>
                <a:lnTo>
                  <a:pt x="11863388" y="0"/>
                </a:lnTo>
                <a:lnTo>
                  <a:pt x="11863388" y="6529388"/>
                </a:lnTo>
                <a:lnTo>
                  <a:pt x="6243043" y="6529388"/>
                </a:lnTo>
                <a:lnTo>
                  <a:pt x="6186640" y="6303776"/>
                </a:lnTo>
                <a:lnTo>
                  <a:pt x="5676748" y="6303776"/>
                </a:lnTo>
                <a:lnTo>
                  <a:pt x="5620345" y="6529388"/>
                </a:lnTo>
                <a:lnTo>
                  <a:pt x="0" y="6529388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8D56A6-6419-46AD-9382-F99A77FD0470}"/>
              </a:ext>
            </a:extLst>
          </p:cNvPr>
          <p:cNvSpPr/>
          <p:nvPr/>
        </p:nvSpPr>
        <p:spPr>
          <a:xfrm>
            <a:off x="2338466" y="1033638"/>
            <a:ext cx="75150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>
                <a:solidFill>
                  <a:srgbClr val="000000"/>
                </a:solidFill>
                <a:latin typeface="Helvetica" pitchFamily="2" charset="0"/>
              </a:rPr>
              <a:t>Introduction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ABF120-1AE4-439F-84BB-031C3862ECEE}"/>
              </a:ext>
            </a:extLst>
          </p:cNvPr>
          <p:cNvSpPr/>
          <p:nvPr/>
        </p:nvSpPr>
        <p:spPr>
          <a:xfrm>
            <a:off x="1828800" y="2765726"/>
            <a:ext cx="8534400" cy="1881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web-based programming problem judging system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competitive programming and general practice.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real-time judging, rating, contests and problem management.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for universities, organizations and global users.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E8EE84-0391-4785-A2E3-19890248007F}"/>
              </a:ext>
            </a:extLst>
          </p:cNvPr>
          <p:cNvSpPr/>
          <p:nvPr/>
        </p:nvSpPr>
        <p:spPr>
          <a:xfrm>
            <a:off x="1828800" y="2022036"/>
            <a:ext cx="8534400" cy="497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Helvetica" pitchFamily="2" charset="0"/>
              </a:rPr>
              <a:t>What is </a:t>
            </a:r>
            <a:r>
              <a:rPr lang="en-US" sz="2000" b="1" dirty="0" err="1">
                <a:solidFill>
                  <a:srgbClr val="000000"/>
                </a:solidFill>
                <a:latin typeface="Helvetica" pitchFamily="2" charset="0"/>
              </a:rPr>
              <a:t>CodeKoro</a:t>
            </a:r>
            <a:r>
              <a:rPr lang="en-US" sz="2000" dirty="0">
                <a:solidFill>
                  <a:srgbClr val="000000"/>
                </a:solidFill>
                <a:latin typeface="Helvetica" pitchFamily="2" charset="0"/>
              </a:rPr>
              <a:t>?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98D744-F571-4091-8FB5-7660F3825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505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CDD0391-E4FB-4F15-B2A6-CB2975C869AD}"/>
              </a:ext>
            </a:extLst>
          </p:cNvPr>
          <p:cNvSpPr/>
          <p:nvPr/>
        </p:nvSpPr>
        <p:spPr>
          <a:xfrm>
            <a:off x="164306" y="164305"/>
            <a:ext cx="11863388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solidFill>
                  <a:srgbClr val="000000"/>
                </a:solidFill>
                <a:latin typeface="Helvetica" pitchFamily="2" charset="0"/>
              </a:rPr>
              <a:t>CodeKoro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Helvetica" pitchFamily="2" charset="0"/>
              </a:rPr>
              <a:t>- A Web-based Programming Problem Judging System 	by 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Green Chilies </a:t>
            </a:r>
            <a:endParaRPr lang="en-US" sz="1600" b="1" dirty="0">
              <a:effectLst/>
              <a:latin typeface="Helvetica" pitchFamily="2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1E8DF53-9938-402E-93F0-7DE9738BE4FB}"/>
              </a:ext>
            </a:extLst>
          </p:cNvPr>
          <p:cNvSpPr/>
          <p:nvPr/>
        </p:nvSpPr>
        <p:spPr>
          <a:xfrm>
            <a:off x="164306" y="164305"/>
            <a:ext cx="11863388" cy="6529388"/>
          </a:xfrm>
          <a:custGeom>
            <a:avLst/>
            <a:gdLst>
              <a:gd name="connsiteX0" fmla="*/ 0 w 11863388"/>
              <a:gd name="connsiteY0" fmla="*/ 0 h 6529388"/>
              <a:gd name="connsiteX1" fmla="*/ 11863388 w 11863388"/>
              <a:gd name="connsiteY1" fmla="*/ 0 h 6529388"/>
              <a:gd name="connsiteX2" fmla="*/ 11863388 w 11863388"/>
              <a:gd name="connsiteY2" fmla="*/ 6529388 h 6529388"/>
              <a:gd name="connsiteX3" fmla="*/ 6243043 w 11863388"/>
              <a:gd name="connsiteY3" fmla="*/ 6529388 h 6529388"/>
              <a:gd name="connsiteX4" fmla="*/ 6186640 w 11863388"/>
              <a:gd name="connsiteY4" fmla="*/ 6303776 h 6529388"/>
              <a:gd name="connsiteX5" fmla="*/ 5676748 w 11863388"/>
              <a:gd name="connsiteY5" fmla="*/ 6303776 h 6529388"/>
              <a:gd name="connsiteX6" fmla="*/ 5620345 w 11863388"/>
              <a:gd name="connsiteY6" fmla="*/ 6529388 h 6529388"/>
              <a:gd name="connsiteX7" fmla="*/ 0 w 11863388"/>
              <a:gd name="connsiteY7" fmla="*/ 6529388 h 6529388"/>
              <a:gd name="connsiteX8" fmla="*/ 0 w 11863388"/>
              <a:gd name="connsiteY8" fmla="*/ 0 h 6529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63388" h="6529388">
                <a:moveTo>
                  <a:pt x="0" y="0"/>
                </a:moveTo>
                <a:lnTo>
                  <a:pt x="11863388" y="0"/>
                </a:lnTo>
                <a:lnTo>
                  <a:pt x="11863388" y="6529388"/>
                </a:lnTo>
                <a:lnTo>
                  <a:pt x="6243043" y="6529388"/>
                </a:lnTo>
                <a:lnTo>
                  <a:pt x="6186640" y="6303776"/>
                </a:lnTo>
                <a:lnTo>
                  <a:pt x="5676748" y="6303776"/>
                </a:lnTo>
                <a:lnTo>
                  <a:pt x="5620345" y="6529388"/>
                </a:lnTo>
                <a:lnTo>
                  <a:pt x="0" y="6529388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8D56A6-6419-46AD-9382-F99A77FD0470}"/>
              </a:ext>
            </a:extLst>
          </p:cNvPr>
          <p:cNvSpPr/>
          <p:nvPr/>
        </p:nvSpPr>
        <p:spPr>
          <a:xfrm>
            <a:off x="2338466" y="1033638"/>
            <a:ext cx="75150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>
                <a:solidFill>
                  <a:srgbClr val="000000"/>
                </a:solidFill>
                <a:latin typeface="Helvetica" pitchFamily="2" charset="0"/>
              </a:rPr>
              <a:t>Process Model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ABF120-1AE4-439F-84BB-031C3862ECEE}"/>
              </a:ext>
            </a:extLst>
          </p:cNvPr>
          <p:cNvSpPr/>
          <p:nvPr/>
        </p:nvSpPr>
        <p:spPr>
          <a:xfrm>
            <a:off x="1828800" y="2765726"/>
            <a:ext cx="8534400" cy="1881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Iterative and incremental development.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Short development cycles (sprints).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requirement refinement.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Suitable for evolving, large-scale systems like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CodeKoro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E8EE84-0391-4785-A2E3-19890248007F}"/>
              </a:ext>
            </a:extLst>
          </p:cNvPr>
          <p:cNvSpPr/>
          <p:nvPr/>
        </p:nvSpPr>
        <p:spPr>
          <a:xfrm>
            <a:off x="1828800" y="2022036"/>
            <a:ext cx="8534400" cy="497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0000"/>
                </a:solidFill>
                <a:latin typeface="Helvetica" pitchFamily="2" charset="0"/>
              </a:rPr>
              <a:t>Scrum </a:t>
            </a:r>
            <a:r>
              <a:rPr lang="en-US" sz="2000" dirty="0">
                <a:solidFill>
                  <a:srgbClr val="000000"/>
                </a:solidFill>
                <a:latin typeface="Helvetica" pitchFamily="2" charset="0"/>
              </a:rPr>
              <a:t>(Agile) will be used to develop the project. Scrum provides: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89E0C1-5537-4F4B-B4F0-CC85D161E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434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CDD0391-E4FB-4F15-B2A6-CB2975C869AD}"/>
              </a:ext>
            </a:extLst>
          </p:cNvPr>
          <p:cNvSpPr/>
          <p:nvPr/>
        </p:nvSpPr>
        <p:spPr>
          <a:xfrm>
            <a:off x="164306" y="164305"/>
            <a:ext cx="11863388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solidFill>
                  <a:srgbClr val="000000"/>
                </a:solidFill>
                <a:latin typeface="Helvetica" pitchFamily="2" charset="0"/>
              </a:rPr>
              <a:t>CodeKoro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Helvetica" pitchFamily="2" charset="0"/>
              </a:rPr>
              <a:t>- A Web-based Programming Problem Judging System 	by 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Green Chilies </a:t>
            </a:r>
            <a:endParaRPr lang="en-US" sz="1600" b="1" dirty="0">
              <a:effectLst/>
              <a:latin typeface="Helvetica" pitchFamily="2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1E8DF53-9938-402E-93F0-7DE9738BE4FB}"/>
              </a:ext>
            </a:extLst>
          </p:cNvPr>
          <p:cNvSpPr/>
          <p:nvPr/>
        </p:nvSpPr>
        <p:spPr>
          <a:xfrm>
            <a:off x="164306" y="164305"/>
            <a:ext cx="11863388" cy="6529388"/>
          </a:xfrm>
          <a:custGeom>
            <a:avLst/>
            <a:gdLst>
              <a:gd name="connsiteX0" fmla="*/ 0 w 11863388"/>
              <a:gd name="connsiteY0" fmla="*/ 0 h 6529388"/>
              <a:gd name="connsiteX1" fmla="*/ 11863388 w 11863388"/>
              <a:gd name="connsiteY1" fmla="*/ 0 h 6529388"/>
              <a:gd name="connsiteX2" fmla="*/ 11863388 w 11863388"/>
              <a:gd name="connsiteY2" fmla="*/ 6529388 h 6529388"/>
              <a:gd name="connsiteX3" fmla="*/ 6243043 w 11863388"/>
              <a:gd name="connsiteY3" fmla="*/ 6529388 h 6529388"/>
              <a:gd name="connsiteX4" fmla="*/ 6186640 w 11863388"/>
              <a:gd name="connsiteY4" fmla="*/ 6303776 h 6529388"/>
              <a:gd name="connsiteX5" fmla="*/ 5676748 w 11863388"/>
              <a:gd name="connsiteY5" fmla="*/ 6303776 h 6529388"/>
              <a:gd name="connsiteX6" fmla="*/ 5620345 w 11863388"/>
              <a:gd name="connsiteY6" fmla="*/ 6529388 h 6529388"/>
              <a:gd name="connsiteX7" fmla="*/ 0 w 11863388"/>
              <a:gd name="connsiteY7" fmla="*/ 6529388 h 6529388"/>
              <a:gd name="connsiteX8" fmla="*/ 0 w 11863388"/>
              <a:gd name="connsiteY8" fmla="*/ 0 h 6529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63388" h="6529388">
                <a:moveTo>
                  <a:pt x="0" y="0"/>
                </a:moveTo>
                <a:lnTo>
                  <a:pt x="11863388" y="0"/>
                </a:lnTo>
                <a:lnTo>
                  <a:pt x="11863388" y="6529388"/>
                </a:lnTo>
                <a:lnTo>
                  <a:pt x="6243043" y="6529388"/>
                </a:lnTo>
                <a:lnTo>
                  <a:pt x="6186640" y="6303776"/>
                </a:lnTo>
                <a:lnTo>
                  <a:pt x="5676748" y="6303776"/>
                </a:lnTo>
                <a:lnTo>
                  <a:pt x="5620345" y="6529388"/>
                </a:lnTo>
                <a:lnTo>
                  <a:pt x="0" y="6529388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8D56A6-6419-46AD-9382-F99A77FD0470}"/>
              </a:ext>
            </a:extLst>
          </p:cNvPr>
          <p:cNvSpPr/>
          <p:nvPr/>
        </p:nvSpPr>
        <p:spPr>
          <a:xfrm>
            <a:off x="2338466" y="1033638"/>
            <a:ext cx="75150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>
                <a:solidFill>
                  <a:srgbClr val="000000"/>
                </a:solidFill>
                <a:latin typeface="Helvetica" pitchFamily="2" charset="0"/>
              </a:rPr>
              <a:t>Scrum Process Model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17E5577-2D9F-40C4-834A-4F9209868B41}"/>
              </a:ext>
            </a:extLst>
          </p:cNvPr>
          <p:cNvGrpSpPr/>
          <p:nvPr/>
        </p:nvGrpSpPr>
        <p:grpSpPr>
          <a:xfrm>
            <a:off x="1912049" y="2649621"/>
            <a:ext cx="805180" cy="1532889"/>
            <a:chOff x="1130300" y="2787650"/>
            <a:chExt cx="805180" cy="153288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9773184-A120-4FF6-829C-7A39D96DB0CA}"/>
                </a:ext>
              </a:extLst>
            </p:cNvPr>
            <p:cNvSpPr/>
            <p:nvPr/>
          </p:nvSpPr>
          <p:spPr>
            <a:xfrm>
              <a:off x="1130300" y="2787650"/>
              <a:ext cx="805180" cy="153288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DCCFF07-7AE6-4A0A-B2C6-0AB0B34C024F}"/>
                </a:ext>
              </a:extLst>
            </p:cNvPr>
            <p:cNvCxnSpPr/>
            <p:nvPr/>
          </p:nvCxnSpPr>
          <p:spPr>
            <a:xfrm>
              <a:off x="1130300" y="3042384"/>
              <a:ext cx="80518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A24CE55-41F0-4412-B2E9-FF5AED751821}"/>
                </a:ext>
              </a:extLst>
            </p:cNvPr>
            <p:cNvCxnSpPr/>
            <p:nvPr/>
          </p:nvCxnSpPr>
          <p:spPr>
            <a:xfrm>
              <a:off x="1130300" y="3251172"/>
              <a:ext cx="80518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071C920-682F-4C6A-B28B-48EC458993D4}"/>
                </a:ext>
              </a:extLst>
            </p:cNvPr>
            <p:cNvCxnSpPr/>
            <p:nvPr/>
          </p:nvCxnSpPr>
          <p:spPr>
            <a:xfrm>
              <a:off x="1130300" y="3459960"/>
              <a:ext cx="80518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6E246BF-3EB2-4782-8C14-1DFFF0049480}"/>
                </a:ext>
              </a:extLst>
            </p:cNvPr>
            <p:cNvCxnSpPr/>
            <p:nvPr/>
          </p:nvCxnSpPr>
          <p:spPr>
            <a:xfrm>
              <a:off x="1130300" y="3668748"/>
              <a:ext cx="80518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19DDE60-3895-4E7B-B8E5-F44D82B2C17C}"/>
                </a:ext>
              </a:extLst>
            </p:cNvPr>
            <p:cNvCxnSpPr/>
            <p:nvPr/>
          </p:nvCxnSpPr>
          <p:spPr>
            <a:xfrm>
              <a:off x="1130300" y="3877536"/>
              <a:ext cx="80518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FB7EFFF-5BF5-489D-912A-48B42B368001}"/>
                </a:ext>
              </a:extLst>
            </p:cNvPr>
            <p:cNvCxnSpPr/>
            <p:nvPr/>
          </p:nvCxnSpPr>
          <p:spPr>
            <a:xfrm>
              <a:off x="1130300" y="4086324"/>
              <a:ext cx="80518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9F2376EC-5A25-483A-A42F-A46879B992C7}"/>
              </a:ext>
            </a:extLst>
          </p:cNvPr>
          <p:cNvSpPr/>
          <p:nvPr/>
        </p:nvSpPr>
        <p:spPr>
          <a:xfrm>
            <a:off x="1235347" y="4186887"/>
            <a:ext cx="21585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Backlog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D4D11DCD-1438-4D5C-B287-FE62F7A9F1BC}"/>
              </a:ext>
            </a:extLst>
          </p:cNvPr>
          <p:cNvSpPr/>
          <p:nvPr/>
        </p:nvSpPr>
        <p:spPr>
          <a:xfrm>
            <a:off x="1404863" y="2112963"/>
            <a:ext cx="672096" cy="672096"/>
          </a:xfrm>
          <a:prstGeom prst="arc">
            <a:avLst>
              <a:gd name="adj1" fmla="val 3546791"/>
              <a:gd name="adj2" fmla="val 2223417"/>
            </a:avLst>
          </a:prstGeom>
          <a:ln w="19050">
            <a:solidFill>
              <a:schemeClr val="tx2">
                <a:lumMod val="50000"/>
              </a:schemeClr>
            </a:solidFill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38AA30-3734-4D66-B190-AF6D291906D8}"/>
              </a:ext>
            </a:extLst>
          </p:cNvPr>
          <p:cNvSpPr/>
          <p:nvPr/>
        </p:nvSpPr>
        <p:spPr>
          <a:xfrm>
            <a:off x="1083790" y="1804459"/>
            <a:ext cx="13142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Refinement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5352ECC-EE1B-40F8-86C8-7A5D82E150FB}"/>
              </a:ext>
            </a:extLst>
          </p:cNvPr>
          <p:cNvCxnSpPr/>
          <p:nvPr/>
        </p:nvCxnSpPr>
        <p:spPr>
          <a:xfrm>
            <a:off x="2717229" y="3416065"/>
            <a:ext cx="365683" cy="0"/>
          </a:xfrm>
          <a:prstGeom prst="straightConnector1">
            <a:avLst/>
          </a:prstGeom>
          <a:ln w="1905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FC1D4DAE-4200-4D4B-81C6-2270169D0D17}"/>
              </a:ext>
            </a:extLst>
          </p:cNvPr>
          <p:cNvSpPr/>
          <p:nvPr/>
        </p:nvSpPr>
        <p:spPr>
          <a:xfrm>
            <a:off x="3082912" y="3154455"/>
            <a:ext cx="1100806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Sprint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Planning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C056939-8B66-4C9D-972A-022957908494}"/>
              </a:ext>
            </a:extLst>
          </p:cNvPr>
          <p:cNvCxnSpPr/>
          <p:nvPr/>
        </p:nvCxnSpPr>
        <p:spPr>
          <a:xfrm>
            <a:off x="4183718" y="3416065"/>
            <a:ext cx="365683" cy="0"/>
          </a:xfrm>
          <a:prstGeom prst="straightConnector1">
            <a:avLst/>
          </a:prstGeom>
          <a:ln w="1905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3B4FD85-C647-4B5F-9227-730F2FB2182D}"/>
              </a:ext>
            </a:extLst>
          </p:cNvPr>
          <p:cNvGrpSpPr/>
          <p:nvPr/>
        </p:nvGrpSpPr>
        <p:grpSpPr>
          <a:xfrm>
            <a:off x="4549401" y="3012071"/>
            <a:ext cx="805180" cy="807987"/>
            <a:chOff x="3932544" y="3300001"/>
            <a:chExt cx="805180" cy="807987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8AB843E-A440-4E4E-917F-14E6578A8349}"/>
                </a:ext>
              </a:extLst>
            </p:cNvPr>
            <p:cNvSpPr/>
            <p:nvPr/>
          </p:nvSpPr>
          <p:spPr>
            <a:xfrm>
              <a:off x="3932544" y="3300001"/>
              <a:ext cx="805180" cy="80798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58F3AD1-8D0C-4E25-A941-A8E59BC47741}"/>
                </a:ext>
              </a:extLst>
            </p:cNvPr>
            <p:cNvCxnSpPr/>
            <p:nvPr/>
          </p:nvCxnSpPr>
          <p:spPr>
            <a:xfrm>
              <a:off x="3932544" y="3501998"/>
              <a:ext cx="80518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8EB1856-E52B-4DC0-993F-EF5A9831235C}"/>
                </a:ext>
              </a:extLst>
            </p:cNvPr>
            <p:cNvCxnSpPr/>
            <p:nvPr/>
          </p:nvCxnSpPr>
          <p:spPr>
            <a:xfrm>
              <a:off x="3932544" y="3703995"/>
              <a:ext cx="80518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A8DC2E9-6E56-44A0-B90A-00E516032317}"/>
                </a:ext>
              </a:extLst>
            </p:cNvPr>
            <p:cNvCxnSpPr/>
            <p:nvPr/>
          </p:nvCxnSpPr>
          <p:spPr>
            <a:xfrm>
              <a:off x="3932544" y="3905992"/>
              <a:ext cx="80518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2E2973AE-B3A3-460C-8B13-BA4D2CCD5979}"/>
              </a:ext>
            </a:extLst>
          </p:cNvPr>
          <p:cNvSpPr/>
          <p:nvPr/>
        </p:nvSpPr>
        <p:spPr>
          <a:xfrm>
            <a:off x="3872699" y="3822771"/>
            <a:ext cx="21585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Sprint Backlog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F5204D2-3F1C-4D9D-BA33-9C4055DC8DA9}"/>
              </a:ext>
            </a:extLst>
          </p:cNvPr>
          <p:cNvSpPr/>
          <p:nvPr/>
        </p:nvSpPr>
        <p:spPr>
          <a:xfrm>
            <a:off x="3872699" y="2696216"/>
            <a:ext cx="21585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Sprint Goal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0FCC8F1-76C1-4E66-AB12-69953CE693C1}"/>
              </a:ext>
            </a:extLst>
          </p:cNvPr>
          <p:cNvSpPr/>
          <p:nvPr/>
        </p:nvSpPr>
        <p:spPr>
          <a:xfrm rot="16200000">
            <a:off x="991511" y="3262176"/>
            <a:ext cx="15328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Goal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FCF49EF-5A10-4E5F-8113-BA7BD9E11C37}"/>
              </a:ext>
            </a:extLst>
          </p:cNvPr>
          <p:cNvCxnSpPr/>
          <p:nvPr/>
        </p:nvCxnSpPr>
        <p:spPr>
          <a:xfrm>
            <a:off x="5354581" y="3416065"/>
            <a:ext cx="365683" cy="0"/>
          </a:xfrm>
          <a:prstGeom prst="straightConnector1">
            <a:avLst/>
          </a:prstGeom>
          <a:ln w="1905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F0541EB-6892-4E38-8C45-3A701B5775C5}"/>
              </a:ext>
            </a:extLst>
          </p:cNvPr>
          <p:cNvSpPr/>
          <p:nvPr/>
        </p:nvSpPr>
        <p:spPr>
          <a:xfrm>
            <a:off x="5722932" y="2381018"/>
            <a:ext cx="2374900" cy="2070092"/>
          </a:xfrm>
          <a:prstGeom prst="roundRect">
            <a:avLst>
              <a:gd name="adj" fmla="val 3784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2B44F95-3A02-4899-A075-B70A35821148}"/>
              </a:ext>
            </a:extLst>
          </p:cNvPr>
          <p:cNvGrpSpPr/>
          <p:nvPr/>
        </p:nvGrpSpPr>
        <p:grpSpPr>
          <a:xfrm>
            <a:off x="6261581" y="2631471"/>
            <a:ext cx="272313" cy="307777"/>
            <a:chOff x="8384097" y="2400166"/>
            <a:chExt cx="472058" cy="533535"/>
          </a:xfrm>
          <a:solidFill>
            <a:schemeClr val="tx2">
              <a:lumMod val="75000"/>
            </a:schemeClr>
          </a:solidFill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F09D7CEF-34B3-4759-BC63-F59FF90401BC}"/>
                </a:ext>
              </a:extLst>
            </p:cNvPr>
            <p:cNvSpPr/>
            <p:nvPr/>
          </p:nvSpPr>
          <p:spPr>
            <a:xfrm>
              <a:off x="8516304" y="2400166"/>
              <a:ext cx="207645" cy="207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BB15F3E5-189D-4FBB-A1A0-36A4B8AEB157}"/>
                </a:ext>
              </a:extLst>
            </p:cNvPr>
            <p:cNvSpPr/>
            <p:nvPr/>
          </p:nvSpPr>
          <p:spPr>
            <a:xfrm>
              <a:off x="8384097" y="2668948"/>
              <a:ext cx="472058" cy="264753"/>
            </a:xfrm>
            <a:custGeom>
              <a:avLst/>
              <a:gdLst>
                <a:gd name="connsiteX0" fmla="*/ 236029 w 472058"/>
                <a:gd name="connsiteY0" fmla="*/ 0 h 264753"/>
                <a:gd name="connsiteX1" fmla="*/ 463121 w 472058"/>
                <a:gd name="connsiteY1" fmla="*/ 150527 h 264753"/>
                <a:gd name="connsiteX2" fmla="*/ 472058 w 472058"/>
                <a:gd name="connsiteY2" fmla="*/ 179318 h 264753"/>
                <a:gd name="connsiteX3" fmla="*/ 446387 w 472058"/>
                <a:gd name="connsiteY3" fmla="*/ 200498 h 264753"/>
                <a:gd name="connsiteX4" fmla="*/ 236029 w 472058"/>
                <a:gd name="connsiteY4" fmla="*/ 264753 h 264753"/>
                <a:gd name="connsiteX5" fmla="*/ 25671 w 472058"/>
                <a:gd name="connsiteY5" fmla="*/ 200498 h 264753"/>
                <a:gd name="connsiteX6" fmla="*/ 0 w 472058"/>
                <a:gd name="connsiteY6" fmla="*/ 179318 h 264753"/>
                <a:gd name="connsiteX7" fmla="*/ 8937 w 472058"/>
                <a:gd name="connsiteY7" fmla="*/ 150527 h 264753"/>
                <a:gd name="connsiteX8" fmla="*/ 236029 w 472058"/>
                <a:gd name="connsiteY8" fmla="*/ 0 h 264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2058" h="264753">
                  <a:moveTo>
                    <a:pt x="236029" y="0"/>
                  </a:moveTo>
                  <a:cubicBezTo>
                    <a:pt x="338116" y="0"/>
                    <a:pt x="425706" y="62069"/>
                    <a:pt x="463121" y="150527"/>
                  </a:cubicBezTo>
                  <a:lnTo>
                    <a:pt x="472058" y="179318"/>
                  </a:lnTo>
                  <a:lnTo>
                    <a:pt x="446387" y="200498"/>
                  </a:lnTo>
                  <a:cubicBezTo>
                    <a:pt x="386339" y="241065"/>
                    <a:pt x="313951" y="264753"/>
                    <a:pt x="236029" y="264753"/>
                  </a:cubicBezTo>
                  <a:cubicBezTo>
                    <a:pt x="158107" y="264753"/>
                    <a:pt x="85719" y="241065"/>
                    <a:pt x="25671" y="200498"/>
                  </a:cubicBezTo>
                  <a:lnTo>
                    <a:pt x="0" y="179318"/>
                  </a:lnTo>
                  <a:lnTo>
                    <a:pt x="8937" y="150527"/>
                  </a:lnTo>
                  <a:cubicBezTo>
                    <a:pt x="46352" y="62069"/>
                    <a:pt x="133942" y="0"/>
                    <a:pt x="23602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BE4813F-195F-46F0-A856-198A2801B7BA}"/>
              </a:ext>
            </a:extLst>
          </p:cNvPr>
          <p:cNvGrpSpPr/>
          <p:nvPr/>
        </p:nvGrpSpPr>
        <p:grpSpPr>
          <a:xfrm>
            <a:off x="7286871" y="2631471"/>
            <a:ext cx="272313" cy="307777"/>
            <a:chOff x="8384097" y="2400166"/>
            <a:chExt cx="472058" cy="533535"/>
          </a:xfrm>
          <a:solidFill>
            <a:srgbClr val="799AD5"/>
          </a:solidFill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6CFA30E-7DAC-4FE9-B53A-96837C2B44E1}"/>
                </a:ext>
              </a:extLst>
            </p:cNvPr>
            <p:cNvSpPr/>
            <p:nvPr/>
          </p:nvSpPr>
          <p:spPr>
            <a:xfrm>
              <a:off x="8516304" y="2400166"/>
              <a:ext cx="207645" cy="207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E3C26D58-CE15-41A3-A5F5-3AFCFDA01720}"/>
                </a:ext>
              </a:extLst>
            </p:cNvPr>
            <p:cNvSpPr/>
            <p:nvPr/>
          </p:nvSpPr>
          <p:spPr>
            <a:xfrm>
              <a:off x="8384097" y="2668948"/>
              <a:ext cx="472058" cy="264753"/>
            </a:xfrm>
            <a:custGeom>
              <a:avLst/>
              <a:gdLst>
                <a:gd name="connsiteX0" fmla="*/ 236029 w 472058"/>
                <a:gd name="connsiteY0" fmla="*/ 0 h 264753"/>
                <a:gd name="connsiteX1" fmla="*/ 463121 w 472058"/>
                <a:gd name="connsiteY1" fmla="*/ 150527 h 264753"/>
                <a:gd name="connsiteX2" fmla="*/ 472058 w 472058"/>
                <a:gd name="connsiteY2" fmla="*/ 179318 h 264753"/>
                <a:gd name="connsiteX3" fmla="*/ 446387 w 472058"/>
                <a:gd name="connsiteY3" fmla="*/ 200498 h 264753"/>
                <a:gd name="connsiteX4" fmla="*/ 236029 w 472058"/>
                <a:gd name="connsiteY4" fmla="*/ 264753 h 264753"/>
                <a:gd name="connsiteX5" fmla="*/ 25671 w 472058"/>
                <a:gd name="connsiteY5" fmla="*/ 200498 h 264753"/>
                <a:gd name="connsiteX6" fmla="*/ 0 w 472058"/>
                <a:gd name="connsiteY6" fmla="*/ 179318 h 264753"/>
                <a:gd name="connsiteX7" fmla="*/ 8937 w 472058"/>
                <a:gd name="connsiteY7" fmla="*/ 150527 h 264753"/>
                <a:gd name="connsiteX8" fmla="*/ 236029 w 472058"/>
                <a:gd name="connsiteY8" fmla="*/ 0 h 264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2058" h="264753">
                  <a:moveTo>
                    <a:pt x="236029" y="0"/>
                  </a:moveTo>
                  <a:cubicBezTo>
                    <a:pt x="338116" y="0"/>
                    <a:pt x="425706" y="62069"/>
                    <a:pt x="463121" y="150527"/>
                  </a:cubicBezTo>
                  <a:lnTo>
                    <a:pt x="472058" y="179318"/>
                  </a:lnTo>
                  <a:lnTo>
                    <a:pt x="446387" y="200498"/>
                  </a:lnTo>
                  <a:cubicBezTo>
                    <a:pt x="386339" y="241065"/>
                    <a:pt x="313951" y="264753"/>
                    <a:pt x="236029" y="264753"/>
                  </a:cubicBezTo>
                  <a:cubicBezTo>
                    <a:pt x="158107" y="264753"/>
                    <a:pt x="85719" y="241065"/>
                    <a:pt x="25671" y="200498"/>
                  </a:cubicBezTo>
                  <a:lnTo>
                    <a:pt x="0" y="179318"/>
                  </a:lnTo>
                  <a:lnTo>
                    <a:pt x="8937" y="150527"/>
                  </a:lnTo>
                  <a:cubicBezTo>
                    <a:pt x="46352" y="62069"/>
                    <a:pt x="133942" y="0"/>
                    <a:pt x="23602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70D9DB5-1E3E-41F7-8450-5F4053DA10F2}"/>
              </a:ext>
            </a:extLst>
          </p:cNvPr>
          <p:cNvGrpSpPr/>
          <p:nvPr/>
        </p:nvGrpSpPr>
        <p:grpSpPr>
          <a:xfrm>
            <a:off x="6261581" y="3677675"/>
            <a:ext cx="272313" cy="307777"/>
            <a:chOff x="8384097" y="2400166"/>
            <a:chExt cx="472058" cy="533535"/>
          </a:xfrm>
          <a:solidFill>
            <a:schemeClr val="bg1"/>
          </a:solidFill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58500AAF-8FD5-40A8-86AD-142B609E4429}"/>
                </a:ext>
              </a:extLst>
            </p:cNvPr>
            <p:cNvSpPr/>
            <p:nvPr/>
          </p:nvSpPr>
          <p:spPr>
            <a:xfrm>
              <a:off x="8516304" y="2400166"/>
              <a:ext cx="207645" cy="207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5CD61DC6-AB6C-4070-ACF2-35DA235CA3A0}"/>
                </a:ext>
              </a:extLst>
            </p:cNvPr>
            <p:cNvSpPr/>
            <p:nvPr/>
          </p:nvSpPr>
          <p:spPr>
            <a:xfrm>
              <a:off x="8384097" y="2668948"/>
              <a:ext cx="472058" cy="264753"/>
            </a:xfrm>
            <a:custGeom>
              <a:avLst/>
              <a:gdLst>
                <a:gd name="connsiteX0" fmla="*/ 236029 w 472058"/>
                <a:gd name="connsiteY0" fmla="*/ 0 h 264753"/>
                <a:gd name="connsiteX1" fmla="*/ 463121 w 472058"/>
                <a:gd name="connsiteY1" fmla="*/ 150527 h 264753"/>
                <a:gd name="connsiteX2" fmla="*/ 472058 w 472058"/>
                <a:gd name="connsiteY2" fmla="*/ 179318 h 264753"/>
                <a:gd name="connsiteX3" fmla="*/ 446387 w 472058"/>
                <a:gd name="connsiteY3" fmla="*/ 200498 h 264753"/>
                <a:gd name="connsiteX4" fmla="*/ 236029 w 472058"/>
                <a:gd name="connsiteY4" fmla="*/ 264753 h 264753"/>
                <a:gd name="connsiteX5" fmla="*/ 25671 w 472058"/>
                <a:gd name="connsiteY5" fmla="*/ 200498 h 264753"/>
                <a:gd name="connsiteX6" fmla="*/ 0 w 472058"/>
                <a:gd name="connsiteY6" fmla="*/ 179318 h 264753"/>
                <a:gd name="connsiteX7" fmla="*/ 8937 w 472058"/>
                <a:gd name="connsiteY7" fmla="*/ 150527 h 264753"/>
                <a:gd name="connsiteX8" fmla="*/ 236029 w 472058"/>
                <a:gd name="connsiteY8" fmla="*/ 0 h 264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2058" h="264753">
                  <a:moveTo>
                    <a:pt x="236029" y="0"/>
                  </a:moveTo>
                  <a:cubicBezTo>
                    <a:pt x="338116" y="0"/>
                    <a:pt x="425706" y="62069"/>
                    <a:pt x="463121" y="150527"/>
                  </a:cubicBezTo>
                  <a:lnTo>
                    <a:pt x="472058" y="179318"/>
                  </a:lnTo>
                  <a:lnTo>
                    <a:pt x="446387" y="200498"/>
                  </a:lnTo>
                  <a:cubicBezTo>
                    <a:pt x="386339" y="241065"/>
                    <a:pt x="313951" y="264753"/>
                    <a:pt x="236029" y="264753"/>
                  </a:cubicBezTo>
                  <a:cubicBezTo>
                    <a:pt x="158107" y="264753"/>
                    <a:pt x="85719" y="241065"/>
                    <a:pt x="25671" y="200498"/>
                  </a:cubicBezTo>
                  <a:lnTo>
                    <a:pt x="0" y="179318"/>
                  </a:lnTo>
                  <a:lnTo>
                    <a:pt x="8937" y="150527"/>
                  </a:lnTo>
                  <a:cubicBezTo>
                    <a:pt x="46352" y="62069"/>
                    <a:pt x="133942" y="0"/>
                    <a:pt x="23602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2FC9E21-9F19-46E5-A7C1-F471BE5E59EB}"/>
              </a:ext>
            </a:extLst>
          </p:cNvPr>
          <p:cNvGrpSpPr/>
          <p:nvPr/>
        </p:nvGrpSpPr>
        <p:grpSpPr>
          <a:xfrm>
            <a:off x="7286871" y="3677675"/>
            <a:ext cx="272313" cy="307777"/>
            <a:chOff x="8384097" y="2400166"/>
            <a:chExt cx="472058" cy="533535"/>
          </a:xfrm>
          <a:solidFill>
            <a:schemeClr val="bg1"/>
          </a:solidFill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E6994ED0-FFE3-4BE8-8877-7E0EADEDACC7}"/>
                </a:ext>
              </a:extLst>
            </p:cNvPr>
            <p:cNvSpPr/>
            <p:nvPr/>
          </p:nvSpPr>
          <p:spPr>
            <a:xfrm>
              <a:off x="8516304" y="2400166"/>
              <a:ext cx="207645" cy="207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4756C613-D369-4B7D-AA0A-0A6CDAD66A40}"/>
                </a:ext>
              </a:extLst>
            </p:cNvPr>
            <p:cNvSpPr/>
            <p:nvPr/>
          </p:nvSpPr>
          <p:spPr>
            <a:xfrm>
              <a:off x="8384097" y="2668948"/>
              <a:ext cx="472058" cy="264753"/>
            </a:xfrm>
            <a:custGeom>
              <a:avLst/>
              <a:gdLst>
                <a:gd name="connsiteX0" fmla="*/ 236029 w 472058"/>
                <a:gd name="connsiteY0" fmla="*/ 0 h 264753"/>
                <a:gd name="connsiteX1" fmla="*/ 463121 w 472058"/>
                <a:gd name="connsiteY1" fmla="*/ 150527 h 264753"/>
                <a:gd name="connsiteX2" fmla="*/ 472058 w 472058"/>
                <a:gd name="connsiteY2" fmla="*/ 179318 h 264753"/>
                <a:gd name="connsiteX3" fmla="*/ 446387 w 472058"/>
                <a:gd name="connsiteY3" fmla="*/ 200498 h 264753"/>
                <a:gd name="connsiteX4" fmla="*/ 236029 w 472058"/>
                <a:gd name="connsiteY4" fmla="*/ 264753 h 264753"/>
                <a:gd name="connsiteX5" fmla="*/ 25671 w 472058"/>
                <a:gd name="connsiteY5" fmla="*/ 200498 h 264753"/>
                <a:gd name="connsiteX6" fmla="*/ 0 w 472058"/>
                <a:gd name="connsiteY6" fmla="*/ 179318 h 264753"/>
                <a:gd name="connsiteX7" fmla="*/ 8937 w 472058"/>
                <a:gd name="connsiteY7" fmla="*/ 150527 h 264753"/>
                <a:gd name="connsiteX8" fmla="*/ 236029 w 472058"/>
                <a:gd name="connsiteY8" fmla="*/ 0 h 264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2058" h="264753">
                  <a:moveTo>
                    <a:pt x="236029" y="0"/>
                  </a:moveTo>
                  <a:cubicBezTo>
                    <a:pt x="338116" y="0"/>
                    <a:pt x="425706" y="62069"/>
                    <a:pt x="463121" y="150527"/>
                  </a:cubicBezTo>
                  <a:lnTo>
                    <a:pt x="472058" y="179318"/>
                  </a:lnTo>
                  <a:lnTo>
                    <a:pt x="446387" y="200498"/>
                  </a:lnTo>
                  <a:cubicBezTo>
                    <a:pt x="386339" y="241065"/>
                    <a:pt x="313951" y="264753"/>
                    <a:pt x="236029" y="264753"/>
                  </a:cubicBezTo>
                  <a:cubicBezTo>
                    <a:pt x="158107" y="264753"/>
                    <a:pt x="85719" y="241065"/>
                    <a:pt x="25671" y="200498"/>
                  </a:cubicBezTo>
                  <a:lnTo>
                    <a:pt x="0" y="179318"/>
                  </a:lnTo>
                  <a:lnTo>
                    <a:pt x="8937" y="150527"/>
                  </a:lnTo>
                  <a:cubicBezTo>
                    <a:pt x="46352" y="62069"/>
                    <a:pt x="133942" y="0"/>
                    <a:pt x="23602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9DCBFEA-5741-4DFE-BEC3-FABBD22E11DD}"/>
              </a:ext>
            </a:extLst>
          </p:cNvPr>
          <p:cNvGrpSpPr/>
          <p:nvPr/>
        </p:nvGrpSpPr>
        <p:grpSpPr>
          <a:xfrm>
            <a:off x="6774226" y="3677675"/>
            <a:ext cx="272313" cy="307777"/>
            <a:chOff x="8384097" y="2400166"/>
            <a:chExt cx="472058" cy="533535"/>
          </a:xfrm>
          <a:solidFill>
            <a:schemeClr val="bg1"/>
          </a:solidFill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B6B36365-99EF-4166-9A9B-F4F7B99F37C0}"/>
                </a:ext>
              </a:extLst>
            </p:cNvPr>
            <p:cNvSpPr/>
            <p:nvPr/>
          </p:nvSpPr>
          <p:spPr>
            <a:xfrm>
              <a:off x="8516304" y="2400166"/>
              <a:ext cx="207645" cy="207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F0B4D29C-53D4-4D84-A2F8-EFDB26ECE227}"/>
                </a:ext>
              </a:extLst>
            </p:cNvPr>
            <p:cNvSpPr/>
            <p:nvPr/>
          </p:nvSpPr>
          <p:spPr>
            <a:xfrm>
              <a:off x="8384097" y="2668948"/>
              <a:ext cx="472058" cy="264753"/>
            </a:xfrm>
            <a:custGeom>
              <a:avLst/>
              <a:gdLst>
                <a:gd name="connsiteX0" fmla="*/ 236029 w 472058"/>
                <a:gd name="connsiteY0" fmla="*/ 0 h 264753"/>
                <a:gd name="connsiteX1" fmla="*/ 463121 w 472058"/>
                <a:gd name="connsiteY1" fmla="*/ 150527 h 264753"/>
                <a:gd name="connsiteX2" fmla="*/ 472058 w 472058"/>
                <a:gd name="connsiteY2" fmla="*/ 179318 h 264753"/>
                <a:gd name="connsiteX3" fmla="*/ 446387 w 472058"/>
                <a:gd name="connsiteY3" fmla="*/ 200498 h 264753"/>
                <a:gd name="connsiteX4" fmla="*/ 236029 w 472058"/>
                <a:gd name="connsiteY4" fmla="*/ 264753 h 264753"/>
                <a:gd name="connsiteX5" fmla="*/ 25671 w 472058"/>
                <a:gd name="connsiteY5" fmla="*/ 200498 h 264753"/>
                <a:gd name="connsiteX6" fmla="*/ 0 w 472058"/>
                <a:gd name="connsiteY6" fmla="*/ 179318 h 264753"/>
                <a:gd name="connsiteX7" fmla="*/ 8937 w 472058"/>
                <a:gd name="connsiteY7" fmla="*/ 150527 h 264753"/>
                <a:gd name="connsiteX8" fmla="*/ 236029 w 472058"/>
                <a:gd name="connsiteY8" fmla="*/ 0 h 264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2058" h="264753">
                  <a:moveTo>
                    <a:pt x="236029" y="0"/>
                  </a:moveTo>
                  <a:cubicBezTo>
                    <a:pt x="338116" y="0"/>
                    <a:pt x="425706" y="62069"/>
                    <a:pt x="463121" y="150527"/>
                  </a:cubicBezTo>
                  <a:lnTo>
                    <a:pt x="472058" y="179318"/>
                  </a:lnTo>
                  <a:lnTo>
                    <a:pt x="446387" y="200498"/>
                  </a:lnTo>
                  <a:cubicBezTo>
                    <a:pt x="386339" y="241065"/>
                    <a:pt x="313951" y="264753"/>
                    <a:pt x="236029" y="264753"/>
                  </a:cubicBezTo>
                  <a:cubicBezTo>
                    <a:pt x="158107" y="264753"/>
                    <a:pt x="85719" y="241065"/>
                    <a:pt x="25671" y="200498"/>
                  </a:cubicBezTo>
                  <a:lnTo>
                    <a:pt x="0" y="179318"/>
                  </a:lnTo>
                  <a:lnTo>
                    <a:pt x="8937" y="150527"/>
                  </a:lnTo>
                  <a:cubicBezTo>
                    <a:pt x="46352" y="62069"/>
                    <a:pt x="133942" y="0"/>
                    <a:pt x="23602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086E1393-4078-4715-BDFE-EAD978EB3853}"/>
              </a:ext>
            </a:extLst>
          </p:cNvPr>
          <p:cNvSpPr/>
          <p:nvPr/>
        </p:nvSpPr>
        <p:spPr>
          <a:xfrm>
            <a:off x="6774226" y="2941244"/>
            <a:ext cx="12976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Scrum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Manager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F21C992-F35E-479C-A6AB-0343321FFEC1}"/>
              </a:ext>
            </a:extLst>
          </p:cNvPr>
          <p:cNvSpPr/>
          <p:nvPr/>
        </p:nvSpPr>
        <p:spPr>
          <a:xfrm>
            <a:off x="5748164" y="2941244"/>
            <a:ext cx="12976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Owner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8A4286D-8807-4EFE-B029-3295EDADCCAB}"/>
              </a:ext>
            </a:extLst>
          </p:cNvPr>
          <p:cNvSpPr/>
          <p:nvPr/>
        </p:nvSpPr>
        <p:spPr>
          <a:xfrm>
            <a:off x="5748934" y="4019511"/>
            <a:ext cx="23228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Developer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D334DE8-A8AA-4147-B9CE-600D8F192E94}"/>
              </a:ext>
            </a:extLst>
          </p:cNvPr>
          <p:cNvSpPr/>
          <p:nvPr/>
        </p:nvSpPr>
        <p:spPr>
          <a:xfrm>
            <a:off x="5831090" y="4451110"/>
            <a:ext cx="21585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Scrum Team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9FDC859-84D0-4A79-A225-1AF60565C8DB}"/>
              </a:ext>
            </a:extLst>
          </p:cNvPr>
          <p:cNvCxnSpPr>
            <a:cxnSpLocks/>
            <a:endCxn id="77" idx="2"/>
          </p:cNvCxnSpPr>
          <p:nvPr/>
        </p:nvCxnSpPr>
        <p:spPr>
          <a:xfrm flipV="1">
            <a:off x="8097832" y="3416064"/>
            <a:ext cx="513968" cy="2"/>
          </a:xfrm>
          <a:prstGeom prst="straightConnector1">
            <a:avLst/>
          </a:prstGeom>
          <a:ln w="1905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Arc 74">
            <a:extLst>
              <a:ext uri="{FF2B5EF4-FFF2-40B4-BE49-F238E27FC236}">
                <a16:creationId xmlns:a16="http://schemas.microsoft.com/office/drawing/2014/main" id="{BF4FDD39-D52E-41B5-B48E-96B03BF866A0}"/>
              </a:ext>
            </a:extLst>
          </p:cNvPr>
          <p:cNvSpPr/>
          <p:nvPr/>
        </p:nvSpPr>
        <p:spPr>
          <a:xfrm>
            <a:off x="7895948" y="1932805"/>
            <a:ext cx="672096" cy="672096"/>
          </a:xfrm>
          <a:prstGeom prst="arc">
            <a:avLst>
              <a:gd name="adj1" fmla="val 9651054"/>
              <a:gd name="adj2" fmla="val 6830384"/>
            </a:avLst>
          </a:prstGeom>
          <a:ln w="19050">
            <a:solidFill>
              <a:schemeClr val="tx2">
                <a:lumMod val="50000"/>
              </a:schemeClr>
            </a:solidFill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1DC4D89-2F46-4DDB-B0DE-C5D3178AE526}"/>
              </a:ext>
            </a:extLst>
          </p:cNvPr>
          <p:cNvSpPr/>
          <p:nvPr/>
        </p:nvSpPr>
        <p:spPr>
          <a:xfrm>
            <a:off x="6787867" y="1810035"/>
            <a:ext cx="13142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Daily Scrum</a:t>
            </a:r>
          </a:p>
        </p:txBody>
      </p:sp>
      <p:sp>
        <p:nvSpPr>
          <p:cNvPr id="77" name="Rectangle: Single Corner Snipped 76">
            <a:extLst>
              <a:ext uri="{FF2B5EF4-FFF2-40B4-BE49-F238E27FC236}">
                <a16:creationId xmlns:a16="http://schemas.microsoft.com/office/drawing/2014/main" id="{EEFE44BC-CE57-4DDB-A174-E64B93801E38}"/>
              </a:ext>
            </a:extLst>
          </p:cNvPr>
          <p:cNvSpPr/>
          <p:nvPr/>
        </p:nvSpPr>
        <p:spPr>
          <a:xfrm>
            <a:off x="8611800" y="3185232"/>
            <a:ext cx="490496" cy="461664"/>
          </a:xfrm>
          <a:prstGeom prst="snip1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C448102-F363-4A26-8B8A-55A477F175F6}"/>
              </a:ext>
            </a:extLst>
          </p:cNvPr>
          <p:cNvSpPr/>
          <p:nvPr/>
        </p:nvSpPr>
        <p:spPr>
          <a:xfrm>
            <a:off x="8176353" y="3647897"/>
            <a:ext cx="13613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Increment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57C5CA8-DA17-408E-B3D3-D6700C9BC95E}"/>
              </a:ext>
            </a:extLst>
          </p:cNvPr>
          <p:cNvCxnSpPr>
            <a:cxnSpLocks/>
            <a:stCxn id="77" idx="0"/>
          </p:cNvCxnSpPr>
          <p:nvPr/>
        </p:nvCxnSpPr>
        <p:spPr>
          <a:xfrm>
            <a:off x="9102296" y="3416064"/>
            <a:ext cx="570665" cy="1"/>
          </a:xfrm>
          <a:prstGeom prst="straightConnector1">
            <a:avLst/>
          </a:prstGeom>
          <a:ln w="1905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211D88F0-4755-46B6-A203-9DB46B2DA1C1}"/>
              </a:ext>
            </a:extLst>
          </p:cNvPr>
          <p:cNvSpPr/>
          <p:nvPr/>
        </p:nvSpPr>
        <p:spPr>
          <a:xfrm>
            <a:off x="9672961" y="3154455"/>
            <a:ext cx="1100806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Sprint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Arial" panose="020B0604020202020204" pitchFamily="34" charset="0"/>
              </a:rPr>
              <a:t>Review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34CD8FA8-7A39-4F23-8EC6-7A193C807592}"/>
              </a:ext>
            </a:extLst>
          </p:cNvPr>
          <p:cNvCxnSpPr>
            <a:cxnSpLocks/>
            <a:stCxn id="80" idx="3"/>
            <a:endCxn id="17" idx="2"/>
          </p:cNvCxnSpPr>
          <p:nvPr/>
        </p:nvCxnSpPr>
        <p:spPr>
          <a:xfrm flipH="1">
            <a:off x="2314639" y="3416065"/>
            <a:ext cx="8459128" cy="1078599"/>
          </a:xfrm>
          <a:prstGeom prst="bentConnector4">
            <a:avLst>
              <a:gd name="adj1" fmla="val -2702"/>
              <a:gd name="adj2" fmla="val 230060"/>
            </a:avLst>
          </a:prstGeom>
          <a:ln w="1905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581F3139-E411-45A7-B3EA-3CE487614374}"/>
              </a:ext>
            </a:extLst>
          </p:cNvPr>
          <p:cNvSpPr/>
          <p:nvPr/>
        </p:nvSpPr>
        <p:spPr>
          <a:xfrm>
            <a:off x="3082912" y="5084316"/>
            <a:ext cx="2271670" cy="3077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Sprint</a:t>
            </a:r>
            <a:r>
              <a:rPr lang="en-US" altLang="en-US" sz="1400" dirty="0">
                <a:latin typeface="Arial" panose="020B0604020202020204" pitchFamily="34" charset="0"/>
              </a:rPr>
              <a:t> Retrospective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2086B471-8E24-46F4-976A-717C416F9C98}"/>
              </a:ext>
            </a:extLst>
          </p:cNvPr>
          <p:cNvCxnSpPr>
            <a:cxnSpLocks/>
          </p:cNvCxnSpPr>
          <p:nvPr/>
        </p:nvCxnSpPr>
        <p:spPr>
          <a:xfrm flipV="1">
            <a:off x="3633315" y="3677676"/>
            <a:ext cx="0" cy="1406640"/>
          </a:xfrm>
          <a:prstGeom prst="straightConnector1">
            <a:avLst/>
          </a:prstGeom>
          <a:ln w="1905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8B6D196D-8FF4-4B13-B9EB-C4E2BBA46A49}"/>
              </a:ext>
            </a:extLst>
          </p:cNvPr>
          <p:cNvCxnSpPr>
            <a:stCxn id="80" idx="2"/>
            <a:endCxn id="100" idx="3"/>
          </p:cNvCxnSpPr>
          <p:nvPr/>
        </p:nvCxnSpPr>
        <p:spPr>
          <a:xfrm rot="5400000">
            <a:off x="7008708" y="2023549"/>
            <a:ext cx="1560530" cy="4868782"/>
          </a:xfrm>
          <a:prstGeom prst="bentConnector2">
            <a:avLst/>
          </a:prstGeom>
          <a:ln w="1905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Slide Number Placeholder 110">
            <a:extLst>
              <a:ext uri="{FF2B5EF4-FFF2-40B4-BE49-F238E27FC236}">
                <a16:creationId xmlns:a16="http://schemas.microsoft.com/office/drawing/2014/main" id="{8E364CB2-8875-4222-8BAF-400B5D7F4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578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CDD0391-E4FB-4F15-B2A6-CB2975C869AD}"/>
              </a:ext>
            </a:extLst>
          </p:cNvPr>
          <p:cNvSpPr/>
          <p:nvPr/>
        </p:nvSpPr>
        <p:spPr>
          <a:xfrm>
            <a:off x="164306" y="164305"/>
            <a:ext cx="11863388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solidFill>
                  <a:srgbClr val="000000"/>
                </a:solidFill>
                <a:latin typeface="Helvetica" pitchFamily="2" charset="0"/>
              </a:rPr>
              <a:t>CodeKoro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Helvetica" pitchFamily="2" charset="0"/>
              </a:rPr>
              <a:t>- A Web-based Programming Problem Judging System 	by 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Green Chilies </a:t>
            </a:r>
            <a:endParaRPr lang="en-US" sz="1600" b="1" dirty="0">
              <a:effectLst/>
              <a:latin typeface="Helvetica" pitchFamily="2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1E8DF53-9938-402E-93F0-7DE9738BE4FB}"/>
              </a:ext>
            </a:extLst>
          </p:cNvPr>
          <p:cNvSpPr/>
          <p:nvPr/>
        </p:nvSpPr>
        <p:spPr>
          <a:xfrm>
            <a:off x="164306" y="164305"/>
            <a:ext cx="11863388" cy="6529388"/>
          </a:xfrm>
          <a:custGeom>
            <a:avLst/>
            <a:gdLst>
              <a:gd name="connsiteX0" fmla="*/ 0 w 11863388"/>
              <a:gd name="connsiteY0" fmla="*/ 0 h 6529388"/>
              <a:gd name="connsiteX1" fmla="*/ 11863388 w 11863388"/>
              <a:gd name="connsiteY1" fmla="*/ 0 h 6529388"/>
              <a:gd name="connsiteX2" fmla="*/ 11863388 w 11863388"/>
              <a:gd name="connsiteY2" fmla="*/ 6529388 h 6529388"/>
              <a:gd name="connsiteX3" fmla="*/ 6243043 w 11863388"/>
              <a:gd name="connsiteY3" fmla="*/ 6529388 h 6529388"/>
              <a:gd name="connsiteX4" fmla="*/ 6186640 w 11863388"/>
              <a:gd name="connsiteY4" fmla="*/ 6303776 h 6529388"/>
              <a:gd name="connsiteX5" fmla="*/ 5676748 w 11863388"/>
              <a:gd name="connsiteY5" fmla="*/ 6303776 h 6529388"/>
              <a:gd name="connsiteX6" fmla="*/ 5620345 w 11863388"/>
              <a:gd name="connsiteY6" fmla="*/ 6529388 h 6529388"/>
              <a:gd name="connsiteX7" fmla="*/ 0 w 11863388"/>
              <a:gd name="connsiteY7" fmla="*/ 6529388 h 6529388"/>
              <a:gd name="connsiteX8" fmla="*/ 0 w 11863388"/>
              <a:gd name="connsiteY8" fmla="*/ 0 h 6529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63388" h="6529388">
                <a:moveTo>
                  <a:pt x="0" y="0"/>
                </a:moveTo>
                <a:lnTo>
                  <a:pt x="11863388" y="0"/>
                </a:lnTo>
                <a:lnTo>
                  <a:pt x="11863388" y="6529388"/>
                </a:lnTo>
                <a:lnTo>
                  <a:pt x="6243043" y="6529388"/>
                </a:lnTo>
                <a:lnTo>
                  <a:pt x="6186640" y="6303776"/>
                </a:lnTo>
                <a:lnTo>
                  <a:pt x="5676748" y="6303776"/>
                </a:lnTo>
                <a:lnTo>
                  <a:pt x="5620345" y="6529388"/>
                </a:lnTo>
                <a:lnTo>
                  <a:pt x="0" y="6529388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8D56A6-6419-46AD-9382-F99A77FD0470}"/>
              </a:ext>
            </a:extLst>
          </p:cNvPr>
          <p:cNvSpPr/>
          <p:nvPr/>
        </p:nvSpPr>
        <p:spPr>
          <a:xfrm>
            <a:off x="2338466" y="1033638"/>
            <a:ext cx="75150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>
                <a:solidFill>
                  <a:srgbClr val="000000"/>
                </a:solidFill>
                <a:latin typeface="Helvetica" pitchFamily="2" charset="0"/>
              </a:rPr>
              <a:t>Reason for Choosing Scrum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ABF120-1AE4-439F-84BB-031C3862ECEE}"/>
              </a:ext>
            </a:extLst>
          </p:cNvPr>
          <p:cNvSpPr/>
          <p:nvPr/>
        </p:nvSpPr>
        <p:spPr>
          <a:xfrm>
            <a:off x="1828800" y="2022036"/>
            <a:ext cx="8534400" cy="280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Requirements may change based on user needs.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Quick feedback cycle from testers.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frequent deployment and testing.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collaboration between developers, testers, and domain experts.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Allows adding features like rating, badges, monitoring, etc. without strict upfront planning.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B2C72F-E60E-4AAE-AA06-B268D28EA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346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CDD0391-E4FB-4F15-B2A6-CB2975C869AD}"/>
              </a:ext>
            </a:extLst>
          </p:cNvPr>
          <p:cNvSpPr/>
          <p:nvPr/>
        </p:nvSpPr>
        <p:spPr>
          <a:xfrm>
            <a:off x="164306" y="164305"/>
            <a:ext cx="11863388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solidFill>
                  <a:srgbClr val="000000"/>
                </a:solidFill>
                <a:latin typeface="Helvetica" pitchFamily="2" charset="0"/>
              </a:rPr>
              <a:t>CodeKoro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Helvetica" pitchFamily="2" charset="0"/>
              </a:rPr>
              <a:t>- A Web-based Programming Problem Judging System 	by 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Green Chilies </a:t>
            </a:r>
            <a:endParaRPr lang="en-US" sz="1600" b="1" dirty="0">
              <a:effectLst/>
              <a:latin typeface="Helvetica" pitchFamily="2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1E8DF53-9938-402E-93F0-7DE9738BE4FB}"/>
              </a:ext>
            </a:extLst>
          </p:cNvPr>
          <p:cNvSpPr/>
          <p:nvPr/>
        </p:nvSpPr>
        <p:spPr>
          <a:xfrm>
            <a:off x="164306" y="164305"/>
            <a:ext cx="11863388" cy="6529388"/>
          </a:xfrm>
          <a:custGeom>
            <a:avLst/>
            <a:gdLst>
              <a:gd name="connsiteX0" fmla="*/ 0 w 11863388"/>
              <a:gd name="connsiteY0" fmla="*/ 0 h 6529388"/>
              <a:gd name="connsiteX1" fmla="*/ 11863388 w 11863388"/>
              <a:gd name="connsiteY1" fmla="*/ 0 h 6529388"/>
              <a:gd name="connsiteX2" fmla="*/ 11863388 w 11863388"/>
              <a:gd name="connsiteY2" fmla="*/ 6529388 h 6529388"/>
              <a:gd name="connsiteX3" fmla="*/ 6243043 w 11863388"/>
              <a:gd name="connsiteY3" fmla="*/ 6529388 h 6529388"/>
              <a:gd name="connsiteX4" fmla="*/ 6186640 w 11863388"/>
              <a:gd name="connsiteY4" fmla="*/ 6303776 h 6529388"/>
              <a:gd name="connsiteX5" fmla="*/ 5676748 w 11863388"/>
              <a:gd name="connsiteY5" fmla="*/ 6303776 h 6529388"/>
              <a:gd name="connsiteX6" fmla="*/ 5620345 w 11863388"/>
              <a:gd name="connsiteY6" fmla="*/ 6529388 h 6529388"/>
              <a:gd name="connsiteX7" fmla="*/ 0 w 11863388"/>
              <a:gd name="connsiteY7" fmla="*/ 6529388 h 6529388"/>
              <a:gd name="connsiteX8" fmla="*/ 0 w 11863388"/>
              <a:gd name="connsiteY8" fmla="*/ 0 h 6529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63388" h="6529388">
                <a:moveTo>
                  <a:pt x="0" y="0"/>
                </a:moveTo>
                <a:lnTo>
                  <a:pt x="11863388" y="0"/>
                </a:lnTo>
                <a:lnTo>
                  <a:pt x="11863388" y="6529388"/>
                </a:lnTo>
                <a:lnTo>
                  <a:pt x="6243043" y="6529388"/>
                </a:lnTo>
                <a:lnTo>
                  <a:pt x="6186640" y="6303776"/>
                </a:lnTo>
                <a:lnTo>
                  <a:pt x="5676748" y="6303776"/>
                </a:lnTo>
                <a:lnTo>
                  <a:pt x="5620345" y="6529388"/>
                </a:lnTo>
                <a:lnTo>
                  <a:pt x="0" y="6529388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8D56A6-6419-46AD-9382-F99A77FD0470}"/>
              </a:ext>
            </a:extLst>
          </p:cNvPr>
          <p:cNvSpPr/>
          <p:nvPr/>
        </p:nvSpPr>
        <p:spPr>
          <a:xfrm>
            <a:off x="2338466" y="1033638"/>
            <a:ext cx="75150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>
                <a:solidFill>
                  <a:srgbClr val="000000"/>
                </a:solidFill>
                <a:latin typeface="Helvetica" pitchFamily="2" charset="0"/>
              </a:rPr>
              <a:t>System Features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ABF120-1AE4-439F-84BB-031C3862ECEE}"/>
              </a:ext>
            </a:extLst>
          </p:cNvPr>
          <p:cNvSpPr/>
          <p:nvPr/>
        </p:nvSpPr>
        <p:spPr>
          <a:xfrm>
            <a:off x="3031958" y="2022036"/>
            <a:ext cx="6128084" cy="3266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Authentication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User Profile and Activity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Programming Problem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Problem Setter Profile and Activity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Online Judge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Contest and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Leaderboard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Admin Profile and Activity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FA93C4-B592-4838-98FF-4CEE7C27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320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CDD0391-E4FB-4F15-B2A6-CB2975C869AD}"/>
              </a:ext>
            </a:extLst>
          </p:cNvPr>
          <p:cNvSpPr/>
          <p:nvPr/>
        </p:nvSpPr>
        <p:spPr>
          <a:xfrm>
            <a:off x="164306" y="164305"/>
            <a:ext cx="11863388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solidFill>
                  <a:srgbClr val="000000"/>
                </a:solidFill>
                <a:latin typeface="Helvetica" pitchFamily="2" charset="0"/>
              </a:rPr>
              <a:t>CodeKoro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Helvetica" pitchFamily="2" charset="0"/>
              </a:rPr>
              <a:t>- A Web-based Programming Problem Judging System 	by 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Green Chilies </a:t>
            </a:r>
            <a:endParaRPr lang="en-US" sz="1600" b="1" dirty="0">
              <a:effectLst/>
              <a:latin typeface="Helvetica" pitchFamily="2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1E8DF53-9938-402E-93F0-7DE9738BE4FB}"/>
              </a:ext>
            </a:extLst>
          </p:cNvPr>
          <p:cNvSpPr/>
          <p:nvPr/>
        </p:nvSpPr>
        <p:spPr>
          <a:xfrm>
            <a:off x="164306" y="164305"/>
            <a:ext cx="11863388" cy="6529388"/>
          </a:xfrm>
          <a:custGeom>
            <a:avLst/>
            <a:gdLst>
              <a:gd name="connsiteX0" fmla="*/ 0 w 11863388"/>
              <a:gd name="connsiteY0" fmla="*/ 0 h 6529388"/>
              <a:gd name="connsiteX1" fmla="*/ 11863388 w 11863388"/>
              <a:gd name="connsiteY1" fmla="*/ 0 h 6529388"/>
              <a:gd name="connsiteX2" fmla="*/ 11863388 w 11863388"/>
              <a:gd name="connsiteY2" fmla="*/ 6529388 h 6529388"/>
              <a:gd name="connsiteX3" fmla="*/ 6243043 w 11863388"/>
              <a:gd name="connsiteY3" fmla="*/ 6529388 h 6529388"/>
              <a:gd name="connsiteX4" fmla="*/ 6186640 w 11863388"/>
              <a:gd name="connsiteY4" fmla="*/ 6303776 h 6529388"/>
              <a:gd name="connsiteX5" fmla="*/ 5676748 w 11863388"/>
              <a:gd name="connsiteY5" fmla="*/ 6303776 h 6529388"/>
              <a:gd name="connsiteX6" fmla="*/ 5620345 w 11863388"/>
              <a:gd name="connsiteY6" fmla="*/ 6529388 h 6529388"/>
              <a:gd name="connsiteX7" fmla="*/ 0 w 11863388"/>
              <a:gd name="connsiteY7" fmla="*/ 6529388 h 6529388"/>
              <a:gd name="connsiteX8" fmla="*/ 0 w 11863388"/>
              <a:gd name="connsiteY8" fmla="*/ 0 h 6529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63388" h="6529388">
                <a:moveTo>
                  <a:pt x="0" y="0"/>
                </a:moveTo>
                <a:lnTo>
                  <a:pt x="11863388" y="0"/>
                </a:lnTo>
                <a:lnTo>
                  <a:pt x="11863388" y="6529388"/>
                </a:lnTo>
                <a:lnTo>
                  <a:pt x="6243043" y="6529388"/>
                </a:lnTo>
                <a:lnTo>
                  <a:pt x="6186640" y="6303776"/>
                </a:lnTo>
                <a:lnTo>
                  <a:pt x="5676748" y="6303776"/>
                </a:lnTo>
                <a:lnTo>
                  <a:pt x="5620345" y="6529388"/>
                </a:lnTo>
                <a:lnTo>
                  <a:pt x="0" y="6529388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8D56A6-6419-46AD-9382-F99A77FD0470}"/>
              </a:ext>
            </a:extLst>
          </p:cNvPr>
          <p:cNvSpPr/>
          <p:nvPr/>
        </p:nvSpPr>
        <p:spPr>
          <a:xfrm>
            <a:off x="2338466" y="1033638"/>
            <a:ext cx="75150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>
                <a:solidFill>
                  <a:srgbClr val="000000"/>
                </a:solidFill>
                <a:latin typeface="Helvetica" pitchFamily="2" charset="0"/>
              </a:rPr>
              <a:t>User Profile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D3D0B4-845D-43C1-9206-DA986FE18B65}"/>
              </a:ext>
            </a:extLst>
          </p:cNvPr>
          <p:cNvSpPr/>
          <p:nvPr/>
        </p:nvSpPr>
        <p:spPr>
          <a:xfrm>
            <a:off x="1809750" y="1764406"/>
            <a:ext cx="8572500" cy="40599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07D43F2-FA96-4764-988A-F61CC6A63C1C}"/>
              </a:ext>
            </a:extLst>
          </p:cNvPr>
          <p:cNvSpPr/>
          <p:nvPr/>
        </p:nvSpPr>
        <p:spPr>
          <a:xfrm>
            <a:off x="2562896" y="2352046"/>
            <a:ext cx="1841679" cy="1841679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399F24-CC8C-45EA-8C79-5EBD74DFEE7B}"/>
              </a:ext>
            </a:extLst>
          </p:cNvPr>
          <p:cNvSpPr/>
          <p:nvPr/>
        </p:nvSpPr>
        <p:spPr>
          <a:xfrm>
            <a:off x="2316050" y="3024387"/>
            <a:ext cx="2335370" cy="496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Profile Picture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776A38-815F-494B-B1B7-50B90817D9CD}"/>
              </a:ext>
            </a:extLst>
          </p:cNvPr>
          <p:cNvSpPr/>
          <p:nvPr/>
        </p:nvSpPr>
        <p:spPr>
          <a:xfrm>
            <a:off x="1880315" y="4344567"/>
            <a:ext cx="3206840" cy="91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Username and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</a:t>
            </a:r>
          </a:p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Organization and Rank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C97D76-19D7-46E3-885F-526E164D44BB}"/>
              </a:ext>
            </a:extLst>
          </p:cNvPr>
          <p:cNvCxnSpPr/>
          <p:nvPr/>
        </p:nvCxnSpPr>
        <p:spPr>
          <a:xfrm>
            <a:off x="5203064" y="1939667"/>
            <a:ext cx="0" cy="37094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B3CA345-9866-427C-85FA-793FA71C6C21}"/>
              </a:ext>
            </a:extLst>
          </p:cNvPr>
          <p:cNvSpPr/>
          <p:nvPr/>
        </p:nvSpPr>
        <p:spPr>
          <a:xfrm>
            <a:off x="6103749" y="4765771"/>
            <a:ext cx="3206840" cy="496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Performance Overview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: Diagonal Corners Snipped 12">
            <a:extLst>
              <a:ext uri="{FF2B5EF4-FFF2-40B4-BE49-F238E27FC236}">
                <a16:creationId xmlns:a16="http://schemas.microsoft.com/office/drawing/2014/main" id="{199A7681-8B63-4D71-963F-2D6EBE2DE620}"/>
              </a:ext>
            </a:extLst>
          </p:cNvPr>
          <p:cNvSpPr/>
          <p:nvPr/>
        </p:nvSpPr>
        <p:spPr>
          <a:xfrm>
            <a:off x="5560807" y="2352046"/>
            <a:ext cx="4292725" cy="2413725"/>
          </a:xfrm>
          <a:prstGeom prst="snip2DiagRect">
            <a:avLst>
              <a:gd name="adj1" fmla="val 0"/>
              <a:gd name="adj2" fmla="val 6529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88DF7DC-82F4-443C-B2CD-F45CFA321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88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CDD0391-E4FB-4F15-B2A6-CB2975C869AD}"/>
              </a:ext>
            </a:extLst>
          </p:cNvPr>
          <p:cNvSpPr/>
          <p:nvPr/>
        </p:nvSpPr>
        <p:spPr>
          <a:xfrm>
            <a:off x="164306" y="164305"/>
            <a:ext cx="11863388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solidFill>
                  <a:srgbClr val="000000"/>
                </a:solidFill>
                <a:latin typeface="Helvetica" pitchFamily="2" charset="0"/>
              </a:rPr>
              <a:t>CodeKoro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Helvetica" pitchFamily="2" charset="0"/>
              </a:rPr>
              <a:t>- A Web-based Programming Problem Judging System 	by 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Green Chilies </a:t>
            </a:r>
            <a:endParaRPr lang="en-US" sz="1600" b="1" dirty="0">
              <a:effectLst/>
              <a:latin typeface="Helvetica" pitchFamily="2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1E8DF53-9938-402E-93F0-7DE9738BE4FB}"/>
              </a:ext>
            </a:extLst>
          </p:cNvPr>
          <p:cNvSpPr/>
          <p:nvPr/>
        </p:nvSpPr>
        <p:spPr>
          <a:xfrm>
            <a:off x="164306" y="164305"/>
            <a:ext cx="11863388" cy="6529388"/>
          </a:xfrm>
          <a:custGeom>
            <a:avLst/>
            <a:gdLst>
              <a:gd name="connsiteX0" fmla="*/ 0 w 11863388"/>
              <a:gd name="connsiteY0" fmla="*/ 0 h 6529388"/>
              <a:gd name="connsiteX1" fmla="*/ 11863388 w 11863388"/>
              <a:gd name="connsiteY1" fmla="*/ 0 h 6529388"/>
              <a:gd name="connsiteX2" fmla="*/ 11863388 w 11863388"/>
              <a:gd name="connsiteY2" fmla="*/ 6529388 h 6529388"/>
              <a:gd name="connsiteX3" fmla="*/ 6243043 w 11863388"/>
              <a:gd name="connsiteY3" fmla="*/ 6529388 h 6529388"/>
              <a:gd name="connsiteX4" fmla="*/ 6186640 w 11863388"/>
              <a:gd name="connsiteY4" fmla="*/ 6303776 h 6529388"/>
              <a:gd name="connsiteX5" fmla="*/ 5676748 w 11863388"/>
              <a:gd name="connsiteY5" fmla="*/ 6303776 h 6529388"/>
              <a:gd name="connsiteX6" fmla="*/ 5620345 w 11863388"/>
              <a:gd name="connsiteY6" fmla="*/ 6529388 h 6529388"/>
              <a:gd name="connsiteX7" fmla="*/ 0 w 11863388"/>
              <a:gd name="connsiteY7" fmla="*/ 6529388 h 6529388"/>
              <a:gd name="connsiteX8" fmla="*/ 0 w 11863388"/>
              <a:gd name="connsiteY8" fmla="*/ 0 h 6529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63388" h="6529388">
                <a:moveTo>
                  <a:pt x="0" y="0"/>
                </a:moveTo>
                <a:lnTo>
                  <a:pt x="11863388" y="0"/>
                </a:lnTo>
                <a:lnTo>
                  <a:pt x="11863388" y="6529388"/>
                </a:lnTo>
                <a:lnTo>
                  <a:pt x="6243043" y="6529388"/>
                </a:lnTo>
                <a:lnTo>
                  <a:pt x="6186640" y="6303776"/>
                </a:lnTo>
                <a:lnTo>
                  <a:pt x="5676748" y="6303776"/>
                </a:lnTo>
                <a:lnTo>
                  <a:pt x="5620345" y="6529388"/>
                </a:lnTo>
                <a:lnTo>
                  <a:pt x="0" y="6529388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8D56A6-6419-46AD-9382-F99A77FD0470}"/>
              </a:ext>
            </a:extLst>
          </p:cNvPr>
          <p:cNvSpPr/>
          <p:nvPr/>
        </p:nvSpPr>
        <p:spPr>
          <a:xfrm>
            <a:off x="2338466" y="1033638"/>
            <a:ext cx="75150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>
                <a:solidFill>
                  <a:srgbClr val="000000"/>
                </a:solidFill>
                <a:latin typeface="Helvetica" pitchFamily="2" charset="0"/>
              </a:rPr>
              <a:t>Programming Problem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D3D0B4-845D-43C1-9206-DA986FE18B65}"/>
              </a:ext>
            </a:extLst>
          </p:cNvPr>
          <p:cNvSpPr/>
          <p:nvPr/>
        </p:nvSpPr>
        <p:spPr>
          <a:xfrm>
            <a:off x="1809750" y="1764406"/>
            <a:ext cx="8572500" cy="40599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399F24-CC8C-45EA-8C79-5EBD74DFEE7B}"/>
              </a:ext>
            </a:extLst>
          </p:cNvPr>
          <p:cNvSpPr/>
          <p:nvPr/>
        </p:nvSpPr>
        <p:spPr>
          <a:xfrm>
            <a:off x="4928315" y="1777584"/>
            <a:ext cx="2335370" cy="496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 Title</a:t>
            </a:r>
            <a:endParaRPr lang="en-US" altLang="en-US" sz="2000" b="1" dirty="0">
              <a:latin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776A38-815F-494B-B1B7-50B90817D9CD}"/>
              </a:ext>
            </a:extLst>
          </p:cNvPr>
          <p:cNvSpPr/>
          <p:nvPr/>
        </p:nvSpPr>
        <p:spPr>
          <a:xfrm>
            <a:off x="2281407" y="2606629"/>
            <a:ext cx="4725058" cy="2343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0" indent="-5143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Time and Memory Limit</a:t>
            </a:r>
          </a:p>
          <a:p>
            <a:pPr marL="514350" lvl="0" indent="-5143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Problem Statement</a:t>
            </a:r>
          </a:p>
          <a:p>
            <a:pPr marL="514350" lvl="0" indent="-5143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Graphic (if applicable)</a:t>
            </a:r>
          </a:p>
          <a:p>
            <a:pPr marL="514350" lvl="0" indent="-5143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Sample Test Input and Output</a:t>
            </a:r>
          </a:p>
          <a:p>
            <a:pPr marL="514350" lvl="0" indent="-5143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Additional Notes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216C817-6A30-43D7-8E54-92CD9071711A}"/>
              </a:ext>
            </a:extLst>
          </p:cNvPr>
          <p:cNvCxnSpPr>
            <a:cxnSpLocks/>
          </p:cNvCxnSpPr>
          <p:nvPr/>
        </p:nvCxnSpPr>
        <p:spPr>
          <a:xfrm>
            <a:off x="7006464" y="2606629"/>
            <a:ext cx="0" cy="30424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B0E84E4-01E9-46F8-AA88-62863EDE8B75}"/>
              </a:ext>
            </a:extLst>
          </p:cNvPr>
          <p:cNvSpPr/>
          <p:nvPr/>
        </p:nvSpPr>
        <p:spPr>
          <a:xfrm>
            <a:off x="7263685" y="2606629"/>
            <a:ext cx="2646907" cy="1881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0" indent="-5143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Solve Stat</a:t>
            </a:r>
          </a:p>
          <a:p>
            <a:pPr marL="514350" lvl="0" indent="-5143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Difficulty Rating</a:t>
            </a:r>
          </a:p>
          <a:p>
            <a:pPr marL="514350" lvl="0" indent="-5143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Discussion</a:t>
            </a:r>
          </a:p>
          <a:p>
            <a:pPr marL="514350" lvl="0" indent="-5143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Author Info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9F15054-E88F-44D4-B40F-9008885D9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259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CDD0391-E4FB-4F15-B2A6-CB2975C869AD}"/>
              </a:ext>
            </a:extLst>
          </p:cNvPr>
          <p:cNvSpPr/>
          <p:nvPr/>
        </p:nvSpPr>
        <p:spPr>
          <a:xfrm>
            <a:off x="164306" y="164305"/>
            <a:ext cx="11863388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solidFill>
                  <a:srgbClr val="000000"/>
                </a:solidFill>
                <a:latin typeface="Helvetica" pitchFamily="2" charset="0"/>
              </a:rPr>
              <a:t>CodeKoro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Helvetica" pitchFamily="2" charset="0"/>
              </a:rPr>
              <a:t>- A Web-based Programming Problem Judging System 	by 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Green Chilies </a:t>
            </a:r>
            <a:endParaRPr lang="en-US" sz="1600" b="1" dirty="0">
              <a:effectLst/>
              <a:latin typeface="Helvetica" pitchFamily="2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1E8DF53-9938-402E-93F0-7DE9738BE4FB}"/>
              </a:ext>
            </a:extLst>
          </p:cNvPr>
          <p:cNvSpPr/>
          <p:nvPr/>
        </p:nvSpPr>
        <p:spPr>
          <a:xfrm>
            <a:off x="164306" y="164305"/>
            <a:ext cx="11863388" cy="6529388"/>
          </a:xfrm>
          <a:custGeom>
            <a:avLst/>
            <a:gdLst>
              <a:gd name="connsiteX0" fmla="*/ 0 w 11863388"/>
              <a:gd name="connsiteY0" fmla="*/ 0 h 6529388"/>
              <a:gd name="connsiteX1" fmla="*/ 11863388 w 11863388"/>
              <a:gd name="connsiteY1" fmla="*/ 0 h 6529388"/>
              <a:gd name="connsiteX2" fmla="*/ 11863388 w 11863388"/>
              <a:gd name="connsiteY2" fmla="*/ 6529388 h 6529388"/>
              <a:gd name="connsiteX3" fmla="*/ 6243043 w 11863388"/>
              <a:gd name="connsiteY3" fmla="*/ 6529388 h 6529388"/>
              <a:gd name="connsiteX4" fmla="*/ 6186640 w 11863388"/>
              <a:gd name="connsiteY4" fmla="*/ 6303776 h 6529388"/>
              <a:gd name="connsiteX5" fmla="*/ 5676748 w 11863388"/>
              <a:gd name="connsiteY5" fmla="*/ 6303776 h 6529388"/>
              <a:gd name="connsiteX6" fmla="*/ 5620345 w 11863388"/>
              <a:gd name="connsiteY6" fmla="*/ 6529388 h 6529388"/>
              <a:gd name="connsiteX7" fmla="*/ 0 w 11863388"/>
              <a:gd name="connsiteY7" fmla="*/ 6529388 h 6529388"/>
              <a:gd name="connsiteX8" fmla="*/ 0 w 11863388"/>
              <a:gd name="connsiteY8" fmla="*/ 0 h 6529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63388" h="6529388">
                <a:moveTo>
                  <a:pt x="0" y="0"/>
                </a:moveTo>
                <a:lnTo>
                  <a:pt x="11863388" y="0"/>
                </a:lnTo>
                <a:lnTo>
                  <a:pt x="11863388" y="6529388"/>
                </a:lnTo>
                <a:lnTo>
                  <a:pt x="6243043" y="6529388"/>
                </a:lnTo>
                <a:lnTo>
                  <a:pt x="6186640" y="6303776"/>
                </a:lnTo>
                <a:lnTo>
                  <a:pt x="5676748" y="6303776"/>
                </a:lnTo>
                <a:lnTo>
                  <a:pt x="5620345" y="6529388"/>
                </a:lnTo>
                <a:lnTo>
                  <a:pt x="0" y="6529388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8D56A6-6419-46AD-9382-F99A77FD0470}"/>
              </a:ext>
            </a:extLst>
          </p:cNvPr>
          <p:cNvSpPr/>
          <p:nvPr/>
        </p:nvSpPr>
        <p:spPr>
          <a:xfrm>
            <a:off x="2338466" y="1033638"/>
            <a:ext cx="75150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>
                <a:solidFill>
                  <a:srgbClr val="000000"/>
                </a:solidFill>
                <a:latin typeface="Helvetica" pitchFamily="2" charset="0"/>
              </a:rPr>
              <a:t>Online Judge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D3D0B4-845D-43C1-9206-DA986FE18B65}"/>
              </a:ext>
            </a:extLst>
          </p:cNvPr>
          <p:cNvSpPr/>
          <p:nvPr/>
        </p:nvSpPr>
        <p:spPr>
          <a:xfrm>
            <a:off x="1809750" y="1764406"/>
            <a:ext cx="8572500" cy="40599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776A38-815F-494B-B1B7-50B90817D9CD}"/>
              </a:ext>
            </a:extLst>
          </p:cNvPr>
          <p:cNvSpPr/>
          <p:nvPr/>
        </p:nvSpPr>
        <p:spPr>
          <a:xfrm>
            <a:off x="4188706" y="1821922"/>
            <a:ext cx="3814589" cy="496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Problem Title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A13B9E-5104-4223-9DFA-83D0DBFA7C3A}"/>
              </a:ext>
            </a:extLst>
          </p:cNvPr>
          <p:cNvSpPr/>
          <p:nvPr/>
        </p:nvSpPr>
        <p:spPr>
          <a:xfrm>
            <a:off x="2597150" y="2445225"/>
            <a:ext cx="6997700" cy="19675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0DB47F-7CE2-4616-B2BA-3E1B3EE009B2}"/>
              </a:ext>
            </a:extLst>
          </p:cNvPr>
          <p:cNvSpPr/>
          <p:nvPr/>
        </p:nvSpPr>
        <p:spPr>
          <a:xfrm>
            <a:off x="4188706" y="3180502"/>
            <a:ext cx="3814589" cy="496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Code Writing Space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B1B29CE-13B1-4C97-882F-33CF9922BE16}"/>
              </a:ext>
            </a:extLst>
          </p:cNvPr>
          <p:cNvGrpSpPr/>
          <p:nvPr/>
        </p:nvGrpSpPr>
        <p:grpSpPr>
          <a:xfrm>
            <a:off x="4401062" y="4602727"/>
            <a:ext cx="3389876" cy="414592"/>
            <a:chOff x="4128770" y="4353808"/>
            <a:chExt cx="3389876" cy="294392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EA20C1E-F475-45F3-A102-3E65878E3E4B}"/>
                </a:ext>
              </a:extLst>
            </p:cNvPr>
            <p:cNvSpPr/>
            <p:nvPr/>
          </p:nvSpPr>
          <p:spPr>
            <a:xfrm>
              <a:off x="4128770" y="4353808"/>
              <a:ext cx="1591556" cy="2943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D49AF49-EC89-4CE5-87B7-61ED09E75A3F}"/>
                </a:ext>
              </a:extLst>
            </p:cNvPr>
            <p:cNvSpPr/>
            <p:nvPr/>
          </p:nvSpPr>
          <p:spPr>
            <a:xfrm>
              <a:off x="5927090" y="4353808"/>
              <a:ext cx="1591556" cy="2943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1DCEF4A-0AE9-4434-A2D9-C0AFA3552502}"/>
              </a:ext>
            </a:extLst>
          </p:cNvPr>
          <p:cNvSpPr/>
          <p:nvPr/>
        </p:nvSpPr>
        <p:spPr>
          <a:xfrm>
            <a:off x="4401061" y="4543508"/>
            <a:ext cx="1591557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Choose File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DAF8C4C-5796-4AF4-8F8E-6D75BC0210A7}"/>
              </a:ext>
            </a:extLst>
          </p:cNvPr>
          <p:cNvSpPr/>
          <p:nvPr/>
        </p:nvSpPr>
        <p:spPr>
          <a:xfrm>
            <a:off x="6199382" y="4543508"/>
            <a:ext cx="1591557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Submit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493F56-FDEF-4779-B54F-859E312A5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931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CDD0391-E4FB-4F15-B2A6-CB2975C869AD}"/>
              </a:ext>
            </a:extLst>
          </p:cNvPr>
          <p:cNvSpPr/>
          <p:nvPr/>
        </p:nvSpPr>
        <p:spPr>
          <a:xfrm>
            <a:off x="164306" y="164305"/>
            <a:ext cx="11863388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solidFill>
                  <a:srgbClr val="000000"/>
                </a:solidFill>
                <a:latin typeface="Helvetica" pitchFamily="2" charset="0"/>
              </a:rPr>
              <a:t>CodeKoro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Helvetica" pitchFamily="2" charset="0"/>
              </a:rPr>
              <a:t>- A Web-based Programming Problem Judging System 	by 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Green Chilies </a:t>
            </a:r>
            <a:endParaRPr lang="en-US" sz="1600" b="1" dirty="0">
              <a:effectLst/>
              <a:latin typeface="Helvetica" pitchFamily="2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1E8DF53-9938-402E-93F0-7DE9738BE4FB}"/>
              </a:ext>
            </a:extLst>
          </p:cNvPr>
          <p:cNvSpPr/>
          <p:nvPr/>
        </p:nvSpPr>
        <p:spPr>
          <a:xfrm>
            <a:off x="164306" y="164305"/>
            <a:ext cx="11863388" cy="6529388"/>
          </a:xfrm>
          <a:custGeom>
            <a:avLst/>
            <a:gdLst>
              <a:gd name="connsiteX0" fmla="*/ 0 w 11863388"/>
              <a:gd name="connsiteY0" fmla="*/ 0 h 6529388"/>
              <a:gd name="connsiteX1" fmla="*/ 11863388 w 11863388"/>
              <a:gd name="connsiteY1" fmla="*/ 0 h 6529388"/>
              <a:gd name="connsiteX2" fmla="*/ 11863388 w 11863388"/>
              <a:gd name="connsiteY2" fmla="*/ 6529388 h 6529388"/>
              <a:gd name="connsiteX3" fmla="*/ 6243043 w 11863388"/>
              <a:gd name="connsiteY3" fmla="*/ 6529388 h 6529388"/>
              <a:gd name="connsiteX4" fmla="*/ 6186640 w 11863388"/>
              <a:gd name="connsiteY4" fmla="*/ 6303776 h 6529388"/>
              <a:gd name="connsiteX5" fmla="*/ 5676748 w 11863388"/>
              <a:gd name="connsiteY5" fmla="*/ 6303776 h 6529388"/>
              <a:gd name="connsiteX6" fmla="*/ 5620345 w 11863388"/>
              <a:gd name="connsiteY6" fmla="*/ 6529388 h 6529388"/>
              <a:gd name="connsiteX7" fmla="*/ 0 w 11863388"/>
              <a:gd name="connsiteY7" fmla="*/ 6529388 h 6529388"/>
              <a:gd name="connsiteX8" fmla="*/ 0 w 11863388"/>
              <a:gd name="connsiteY8" fmla="*/ 0 h 6529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63388" h="6529388">
                <a:moveTo>
                  <a:pt x="0" y="0"/>
                </a:moveTo>
                <a:lnTo>
                  <a:pt x="11863388" y="0"/>
                </a:lnTo>
                <a:lnTo>
                  <a:pt x="11863388" y="6529388"/>
                </a:lnTo>
                <a:lnTo>
                  <a:pt x="6243043" y="6529388"/>
                </a:lnTo>
                <a:lnTo>
                  <a:pt x="6186640" y="6303776"/>
                </a:lnTo>
                <a:lnTo>
                  <a:pt x="5676748" y="6303776"/>
                </a:lnTo>
                <a:lnTo>
                  <a:pt x="5620345" y="6529388"/>
                </a:lnTo>
                <a:lnTo>
                  <a:pt x="0" y="6529388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8D56A6-6419-46AD-9382-F99A77FD0470}"/>
              </a:ext>
            </a:extLst>
          </p:cNvPr>
          <p:cNvSpPr/>
          <p:nvPr/>
        </p:nvSpPr>
        <p:spPr>
          <a:xfrm>
            <a:off x="2338466" y="1033638"/>
            <a:ext cx="75150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>
                <a:solidFill>
                  <a:srgbClr val="000000"/>
                </a:solidFill>
                <a:latin typeface="Helvetica" pitchFamily="2" charset="0"/>
              </a:rPr>
              <a:t>Online Judge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D3D0B4-845D-43C1-9206-DA986FE18B65}"/>
              </a:ext>
            </a:extLst>
          </p:cNvPr>
          <p:cNvSpPr/>
          <p:nvPr/>
        </p:nvSpPr>
        <p:spPr>
          <a:xfrm>
            <a:off x="1809750" y="1764406"/>
            <a:ext cx="8572500" cy="40599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776A38-815F-494B-B1B7-50B90817D9CD}"/>
              </a:ext>
            </a:extLst>
          </p:cNvPr>
          <p:cNvSpPr/>
          <p:nvPr/>
        </p:nvSpPr>
        <p:spPr>
          <a:xfrm>
            <a:off x="2699658" y="1821922"/>
            <a:ext cx="6792686" cy="496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Problem Title and Submission ID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A13B9E-5104-4223-9DFA-83D0DBFA7C3A}"/>
              </a:ext>
            </a:extLst>
          </p:cNvPr>
          <p:cNvSpPr/>
          <p:nvPr/>
        </p:nvSpPr>
        <p:spPr>
          <a:xfrm>
            <a:off x="2597150" y="2445225"/>
            <a:ext cx="6997700" cy="22719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0DB47F-7CE2-4616-B2BA-3E1B3EE009B2}"/>
              </a:ext>
            </a:extLst>
          </p:cNvPr>
          <p:cNvSpPr/>
          <p:nvPr/>
        </p:nvSpPr>
        <p:spPr>
          <a:xfrm>
            <a:off x="3454401" y="2623458"/>
            <a:ext cx="3112520" cy="1881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Testcase 1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Testcase 2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Testcase 3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…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49AF49-EC89-4CE5-87B7-61ED09E75A3F}"/>
              </a:ext>
            </a:extLst>
          </p:cNvPr>
          <p:cNvSpPr/>
          <p:nvPr/>
        </p:nvSpPr>
        <p:spPr>
          <a:xfrm>
            <a:off x="2597150" y="4954595"/>
            <a:ext cx="6997700" cy="41459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DAF8C4C-5796-4AF4-8F8E-6D75BC0210A7}"/>
              </a:ext>
            </a:extLst>
          </p:cNvPr>
          <p:cNvSpPr/>
          <p:nvPr/>
        </p:nvSpPr>
        <p:spPr>
          <a:xfrm>
            <a:off x="2597150" y="4895376"/>
            <a:ext cx="6997700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Final Verdict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5587AEE-AE12-4631-8FAE-4CE5BA39A343}"/>
              </a:ext>
            </a:extLst>
          </p:cNvPr>
          <p:cNvGrpSpPr/>
          <p:nvPr/>
        </p:nvGrpSpPr>
        <p:grpSpPr>
          <a:xfrm>
            <a:off x="6867733" y="2645147"/>
            <a:ext cx="2271123" cy="473811"/>
            <a:chOff x="6865257" y="2680501"/>
            <a:chExt cx="2271123" cy="4738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1F3C9C6-37F6-493B-9CF5-14809C657E93}"/>
                </a:ext>
              </a:extLst>
            </p:cNvPr>
            <p:cNvSpPr/>
            <p:nvPr/>
          </p:nvSpPr>
          <p:spPr>
            <a:xfrm>
              <a:off x="7207517" y="2739720"/>
              <a:ext cx="1591556" cy="414592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18448EE-017D-45EA-BD5A-29A1EB94759D}"/>
                </a:ext>
              </a:extLst>
            </p:cNvPr>
            <p:cNvSpPr/>
            <p:nvPr/>
          </p:nvSpPr>
          <p:spPr>
            <a:xfrm>
              <a:off x="6865257" y="2680501"/>
              <a:ext cx="2271123" cy="4565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dirty="0">
                  <a:latin typeface="Arial" panose="020B0604020202020204" pitchFamily="34" charset="0"/>
                </a:rPr>
                <a:t>Passed/Failed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B76EF5B-DB76-4F16-A528-78CBB267F587}"/>
              </a:ext>
            </a:extLst>
          </p:cNvPr>
          <p:cNvGrpSpPr/>
          <p:nvPr/>
        </p:nvGrpSpPr>
        <p:grpSpPr>
          <a:xfrm>
            <a:off x="6867733" y="3120339"/>
            <a:ext cx="2271123" cy="473811"/>
            <a:chOff x="6865257" y="2680501"/>
            <a:chExt cx="2271123" cy="473811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67FA659-6E36-4EFE-817F-F7505B8D3780}"/>
                </a:ext>
              </a:extLst>
            </p:cNvPr>
            <p:cNvSpPr/>
            <p:nvPr/>
          </p:nvSpPr>
          <p:spPr>
            <a:xfrm>
              <a:off x="7207517" y="2739720"/>
              <a:ext cx="1591556" cy="414592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FD3270F-4FFC-4287-9901-31DC32C1E6DD}"/>
                </a:ext>
              </a:extLst>
            </p:cNvPr>
            <p:cNvSpPr/>
            <p:nvPr/>
          </p:nvSpPr>
          <p:spPr>
            <a:xfrm>
              <a:off x="6865257" y="2680501"/>
              <a:ext cx="2271123" cy="4565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dirty="0">
                  <a:latin typeface="Arial" panose="020B0604020202020204" pitchFamily="34" charset="0"/>
                </a:rPr>
                <a:t>Passed/Failed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B60AAB3-C325-42E4-B9C4-E2D5F3C0018F}"/>
              </a:ext>
            </a:extLst>
          </p:cNvPr>
          <p:cNvGrpSpPr/>
          <p:nvPr/>
        </p:nvGrpSpPr>
        <p:grpSpPr>
          <a:xfrm>
            <a:off x="6867733" y="3595530"/>
            <a:ext cx="2271123" cy="473811"/>
            <a:chOff x="6865257" y="2680501"/>
            <a:chExt cx="2271123" cy="473811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E16CF99-E322-4659-A845-1DE034EAC434}"/>
                </a:ext>
              </a:extLst>
            </p:cNvPr>
            <p:cNvSpPr/>
            <p:nvPr/>
          </p:nvSpPr>
          <p:spPr>
            <a:xfrm>
              <a:off x="7207517" y="2739720"/>
              <a:ext cx="1591556" cy="414592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D17171E-890F-4C1A-900A-7CB2F16CB650}"/>
                </a:ext>
              </a:extLst>
            </p:cNvPr>
            <p:cNvSpPr/>
            <p:nvPr/>
          </p:nvSpPr>
          <p:spPr>
            <a:xfrm>
              <a:off x="6865257" y="2680501"/>
              <a:ext cx="2271123" cy="4565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dirty="0">
                  <a:latin typeface="Arial" panose="020B0604020202020204" pitchFamily="34" charset="0"/>
                </a:rPr>
                <a:t>Passed/Failed</a:t>
              </a:r>
            </a:p>
          </p:txBody>
        </p:sp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6432510-6A68-4DCD-886A-8023B51D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372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CDD0391-E4FB-4F15-B2A6-CB2975C869AD}"/>
              </a:ext>
            </a:extLst>
          </p:cNvPr>
          <p:cNvSpPr/>
          <p:nvPr/>
        </p:nvSpPr>
        <p:spPr>
          <a:xfrm>
            <a:off x="164306" y="164305"/>
            <a:ext cx="11863388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solidFill>
                  <a:srgbClr val="000000"/>
                </a:solidFill>
                <a:latin typeface="Helvetica" pitchFamily="2" charset="0"/>
              </a:rPr>
              <a:t>CodeKoro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Helvetica" pitchFamily="2" charset="0"/>
              </a:rPr>
              <a:t>- A Web-based Programming Problem Judging System 	by 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Green Chilies </a:t>
            </a:r>
            <a:endParaRPr lang="en-US" sz="1600" b="1" dirty="0">
              <a:effectLst/>
              <a:latin typeface="Helvetica" pitchFamily="2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1E8DF53-9938-402E-93F0-7DE9738BE4FB}"/>
              </a:ext>
            </a:extLst>
          </p:cNvPr>
          <p:cNvSpPr/>
          <p:nvPr/>
        </p:nvSpPr>
        <p:spPr>
          <a:xfrm>
            <a:off x="164306" y="164305"/>
            <a:ext cx="11863388" cy="6529388"/>
          </a:xfrm>
          <a:custGeom>
            <a:avLst/>
            <a:gdLst>
              <a:gd name="connsiteX0" fmla="*/ 0 w 11863388"/>
              <a:gd name="connsiteY0" fmla="*/ 0 h 6529388"/>
              <a:gd name="connsiteX1" fmla="*/ 11863388 w 11863388"/>
              <a:gd name="connsiteY1" fmla="*/ 0 h 6529388"/>
              <a:gd name="connsiteX2" fmla="*/ 11863388 w 11863388"/>
              <a:gd name="connsiteY2" fmla="*/ 6529388 h 6529388"/>
              <a:gd name="connsiteX3" fmla="*/ 6243043 w 11863388"/>
              <a:gd name="connsiteY3" fmla="*/ 6529388 h 6529388"/>
              <a:gd name="connsiteX4" fmla="*/ 6186640 w 11863388"/>
              <a:gd name="connsiteY4" fmla="*/ 6303776 h 6529388"/>
              <a:gd name="connsiteX5" fmla="*/ 5676748 w 11863388"/>
              <a:gd name="connsiteY5" fmla="*/ 6303776 h 6529388"/>
              <a:gd name="connsiteX6" fmla="*/ 5620345 w 11863388"/>
              <a:gd name="connsiteY6" fmla="*/ 6529388 h 6529388"/>
              <a:gd name="connsiteX7" fmla="*/ 0 w 11863388"/>
              <a:gd name="connsiteY7" fmla="*/ 6529388 h 6529388"/>
              <a:gd name="connsiteX8" fmla="*/ 0 w 11863388"/>
              <a:gd name="connsiteY8" fmla="*/ 0 h 6529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63388" h="6529388">
                <a:moveTo>
                  <a:pt x="0" y="0"/>
                </a:moveTo>
                <a:lnTo>
                  <a:pt x="11863388" y="0"/>
                </a:lnTo>
                <a:lnTo>
                  <a:pt x="11863388" y="6529388"/>
                </a:lnTo>
                <a:lnTo>
                  <a:pt x="6243043" y="6529388"/>
                </a:lnTo>
                <a:lnTo>
                  <a:pt x="6186640" y="6303776"/>
                </a:lnTo>
                <a:lnTo>
                  <a:pt x="5676748" y="6303776"/>
                </a:lnTo>
                <a:lnTo>
                  <a:pt x="5620345" y="6529388"/>
                </a:lnTo>
                <a:lnTo>
                  <a:pt x="0" y="6529388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8D56A6-6419-46AD-9382-F99A77FD0470}"/>
              </a:ext>
            </a:extLst>
          </p:cNvPr>
          <p:cNvSpPr/>
          <p:nvPr/>
        </p:nvSpPr>
        <p:spPr>
          <a:xfrm>
            <a:off x="2338466" y="1033638"/>
            <a:ext cx="75150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>
                <a:solidFill>
                  <a:srgbClr val="000000"/>
                </a:solidFill>
                <a:latin typeface="Helvetica" pitchFamily="2" charset="0"/>
              </a:rPr>
              <a:t>Contest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D3D0B4-845D-43C1-9206-DA986FE18B65}"/>
              </a:ext>
            </a:extLst>
          </p:cNvPr>
          <p:cNvSpPr/>
          <p:nvPr/>
        </p:nvSpPr>
        <p:spPr>
          <a:xfrm>
            <a:off x="1809750" y="1764406"/>
            <a:ext cx="8572500" cy="40599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776A38-815F-494B-B1B7-50B90817D9CD}"/>
              </a:ext>
            </a:extLst>
          </p:cNvPr>
          <p:cNvSpPr/>
          <p:nvPr/>
        </p:nvSpPr>
        <p:spPr>
          <a:xfrm>
            <a:off x="2699658" y="2167740"/>
            <a:ext cx="6792686" cy="496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Helvetica" pitchFamily="2" charset="0"/>
              </a:rPr>
              <a:t>Contest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6432510-6A68-4DCD-886A-8023B51D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14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6E8D2F8-81AF-4A08-B837-5F643B793702}"/>
              </a:ext>
            </a:extLst>
          </p:cNvPr>
          <p:cNvGrpSpPr/>
          <p:nvPr/>
        </p:nvGrpSpPr>
        <p:grpSpPr>
          <a:xfrm>
            <a:off x="2597150" y="3214376"/>
            <a:ext cx="6863099" cy="1714528"/>
            <a:chOff x="2597150" y="2724209"/>
            <a:chExt cx="6863099" cy="171452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70DB47F-7CE2-4616-B2BA-3E1B3EE009B2}"/>
                </a:ext>
              </a:extLst>
            </p:cNvPr>
            <p:cNvSpPr/>
            <p:nvPr/>
          </p:nvSpPr>
          <p:spPr>
            <a:xfrm>
              <a:off x="2597150" y="2724209"/>
              <a:ext cx="3112520" cy="496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 dirty="0">
                  <a:latin typeface="Helvetica" pitchFamily="2" charset="0"/>
                </a:rPr>
                <a:t>User a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1F3C9C6-37F6-493B-9CF5-14809C657E93}"/>
                </a:ext>
              </a:extLst>
            </p:cNvPr>
            <p:cNvSpPr/>
            <p:nvPr/>
          </p:nvSpPr>
          <p:spPr>
            <a:xfrm>
              <a:off x="5251715" y="2791409"/>
              <a:ext cx="918769" cy="41459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itchFamily="2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18448EE-017D-45EA-BD5A-29A1EB94759D}"/>
                </a:ext>
              </a:extLst>
            </p:cNvPr>
            <p:cNvSpPr/>
            <p:nvPr/>
          </p:nvSpPr>
          <p:spPr>
            <a:xfrm>
              <a:off x="5054136" y="2732190"/>
              <a:ext cx="1311067" cy="4565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dirty="0">
                  <a:latin typeface="Helvetica" pitchFamily="2" charset="0"/>
                </a:rPr>
                <a:t>23 (+1)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486212D-4F6D-4C7E-8F27-FB4800E16847}"/>
                </a:ext>
              </a:extLst>
            </p:cNvPr>
            <p:cNvSpPr/>
            <p:nvPr/>
          </p:nvSpPr>
          <p:spPr>
            <a:xfrm>
              <a:off x="3616686" y="2791409"/>
              <a:ext cx="552476" cy="41459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itchFamily="2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4E3E7C2-0FE4-4FB1-9B84-52FEA7B1B43C}"/>
                </a:ext>
              </a:extLst>
            </p:cNvPr>
            <p:cNvSpPr/>
            <p:nvPr/>
          </p:nvSpPr>
          <p:spPr>
            <a:xfrm>
              <a:off x="3497877" y="2732190"/>
              <a:ext cx="788374" cy="4565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dirty="0">
                  <a:latin typeface="Helvetica" pitchFamily="2" charset="0"/>
                </a:rPr>
                <a:t>2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41D1C4A-9AB6-4E30-A967-89D7F9A1DD05}"/>
                </a:ext>
              </a:extLst>
            </p:cNvPr>
            <p:cNvSpPr/>
            <p:nvPr/>
          </p:nvSpPr>
          <p:spPr>
            <a:xfrm>
              <a:off x="6283397" y="2791409"/>
              <a:ext cx="918769" cy="41459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itchFamily="2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DA1C8DC-3130-4083-8283-B73C1534546A}"/>
                </a:ext>
              </a:extLst>
            </p:cNvPr>
            <p:cNvSpPr/>
            <p:nvPr/>
          </p:nvSpPr>
          <p:spPr>
            <a:xfrm>
              <a:off x="6085818" y="2732190"/>
              <a:ext cx="1311067" cy="4565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dirty="0">
                  <a:latin typeface="Helvetica" pitchFamily="2" charset="0"/>
                </a:rPr>
                <a:t>112 (+3)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E678A60-68BF-46C8-A5DB-F6025D7AA6A9}"/>
                </a:ext>
              </a:extLst>
            </p:cNvPr>
            <p:cNvSpPr/>
            <p:nvPr/>
          </p:nvSpPr>
          <p:spPr>
            <a:xfrm>
              <a:off x="7315079" y="2791409"/>
              <a:ext cx="918769" cy="4145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itchFamily="2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1BD9280-CE6C-48EF-A957-6E52CC94EE12}"/>
                </a:ext>
              </a:extLst>
            </p:cNvPr>
            <p:cNvSpPr/>
            <p:nvPr/>
          </p:nvSpPr>
          <p:spPr>
            <a:xfrm>
              <a:off x="7117500" y="2732190"/>
              <a:ext cx="1311067" cy="4565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dirty="0">
                  <a:latin typeface="Helvetica" pitchFamily="2" charset="0"/>
                </a:rPr>
                <a:t>234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B8BF927-5817-4D2C-A91C-001ABECC98DD}"/>
                </a:ext>
              </a:extLst>
            </p:cNvPr>
            <p:cNvSpPr/>
            <p:nvPr/>
          </p:nvSpPr>
          <p:spPr>
            <a:xfrm>
              <a:off x="8346761" y="2791409"/>
              <a:ext cx="918769" cy="41459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itchFamily="2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61E2F58-67F4-4D09-ABD0-152881BF5971}"/>
                </a:ext>
              </a:extLst>
            </p:cNvPr>
            <p:cNvSpPr/>
            <p:nvPr/>
          </p:nvSpPr>
          <p:spPr>
            <a:xfrm>
              <a:off x="8149182" y="2732190"/>
              <a:ext cx="1311067" cy="4565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en-US" dirty="0">
                <a:latin typeface="Helvetica" pitchFamily="2" charset="0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83FFD89-EDAC-482C-B8FD-A2113AFDA985}"/>
                </a:ext>
              </a:extLst>
            </p:cNvPr>
            <p:cNvSpPr/>
            <p:nvPr/>
          </p:nvSpPr>
          <p:spPr>
            <a:xfrm>
              <a:off x="2597150" y="3333489"/>
              <a:ext cx="3112520" cy="496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 dirty="0">
                  <a:latin typeface="Helvetica" pitchFamily="2" charset="0"/>
                </a:rPr>
                <a:t>User b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2087379-C711-4FB2-96AD-0205492CFD62}"/>
                </a:ext>
              </a:extLst>
            </p:cNvPr>
            <p:cNvSpPr/>
            <p:nvPr/>
          </p:nvSpPr>
          <p:spPr>
            <a:xfrm>
              <a:off x="5251715" y="3400689"/>
              <a:ext cx="918769" cy="4145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Helvetica" pitchFamily="2" charset="0"/>
                </a:rPr>
                <a:t>64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4CAE334-D9DF-4395-A6B3-542A7564EB93}"/>
                </a:ext>
              </a:extLst>
            </p:cNvPr>
            <p:cNvSpPr/>
            <p:nvPr/>
          </p:nvSpPr>
          <p:spPr>
            <a:xfrm>
              <a:off x="3616686" y="3400689"/>
              <a:ext cx="552476" cy="41459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itchFamily="2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0A6F5DFE-3E59-4064-9B62-EA9F2D4DD87F}"/>
                </a:ext>
              </a:extLst>
            </p:cNvPr>
            <p:cNvSpPr/>
            <p:nvPr/>
          </p:nvSpPr>
          <p:spPr>
            <a:xfrm>
              <a:off x="3497877" y="3341470"/>
              <a:ext cx="788374" cy="4565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dirty="0">
                  <a:latin typeface="Helvetica" pitchFamily="2" charset="0"/>
                </a:rPr>
                <a:t>1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9BAD29EE-E72E-47BA-9D9E-D4BD017C146F}"/>
                </a:ext>
              </a:extLst>
            </p:cNvPr>
            <p:cNvSpPr/>
            <p:nvPr/>
          </p:nvSpPr>
          <p:spPr>
            <a:xfrm>
              <a:off x="6283397" y="3400689"/>
              <a:ext cx="918769" cy="41459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itchFamily="2" charset="0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E2F9E3E-07D8-45DB-9202-5EF929D43D69}"/>
                </a:ext>
              </a:extLst>
            </p:cNvPr>
            <p:cNvSpPr/>
            <p:nvPr/>
          </p:nvSpPr>
          <p:spPr>
            <a:xfrm>
              <a:off x="6085818" y="3341470"/>
              <a:ext cx="1311067" cy="4565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dirty="0">
                  <a:latin typeface="Helvetica" pitchFamily="2" charset="0"/>
                </a:rPr>
                <a:t>12 (+3)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351BC566-716C-434B-95FA-17D5662D0D41}"/>
                </a:ext>
              </a:extLst>
            </p:cNvPr>
            <p:cNvSpPr/>
            <p:nvPr/>
          </p:nvSpPr>
          <p:spPr>
            <a:xfrm>
              <a:off x="7315079" y="3400689"/>
              <a:ext cx="918769" cy="4145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itchFamily="2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F710757-ABEB-4883-9955-6BA090FD9551}"/>
                </a:ext>
              </a:extLst>
            </p:cNvPr>
            <p:cNvSpPr/>
            <p:nvPr/>
          </p:nvSpPr>
          <p:spPr>
            <a:xfrm>
              <a:off x="7117500" y="3341470"/>
              <a:ext cx="1311067" cy="4565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dirty="0">
                  <a:latin typeface="Helvetica" pitchFamily="2" charset="0"/>
                </a:rPr>
                <a:t>94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E1AE874-E466-4C4E-ADCB-6F368114CD03}"/>
                </a:ext>
              </a:extLst>
            </p:cNvPr>
            <p:cNvSpPr/>
            <p:nvPr/>
          </p:nvSpPr>
          <p:spPr>
            <a:xfrm>
              <a:off x="8346761" y="3400689"/>
              <a:ext cx="918769" cy="41459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itchFamily="2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8EC224EF-176E-498A-B6A8-A2806CA955F0}"/>
                </a:ext>
              </a:extLst>
            </p:cNvPr>
            <p:cNvSpPr/>
            <p:nvPr/>
          </p:nvSpPr>
          <p:spPr>
            <a:xfrm>
              <a:off x="8149182" y="3341470"/>
              <a:ext cx="1311067" cy="4565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en-US" dirty="0">
                <a:latin typeface="Helvetica" pitchFamily="2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575D8D4-8C54-4792-9E09-747B9F0FE636}"/>
                </a:ext>
              </a:extLst>
            </p:cNvPr>
            <p:cNvSpPr/>
            <p:nvPr/>
          </p:nvSpPr>
          <p:spPr>
            <a:xfrm>
              <a:off x="2597150" y="3941741"/>
              <a:ext cx="3112520" cy="496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 dirty="0">
                  <a:latin typeface="Helvetica" pitchFamily="2" charset="0"/>
                </a:rPr>
                <a:t>User c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44226A76-ACC4-4EB0-8C4F-893AF7C386E3}"/>
                </a:ext>
              </a:extLst>
            </p:cNvPr>
            <p:cNvSpPr/>
            <p:nvPr/>
          </p:nvSpPr>
          <p:spPr>
            <a:xfrm>
              <a:off x="5251715" y="4008941"/>
              <a:ext cx="918769" cy="41459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itchFamily="2" charset="0"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AC4AB7BA-EF48-493A-AD38-6831B87D786B}"/>
                </a:ext>
              </a:extLst>
            </p:cNvPr>
            <p:cNvSpPr/>
            <p:nvPr/>
          </p:nvSpPr>
          <p:spPr>
            <a:xfrm>
              <a:off x="5054136" y="3949722"/>
              <a:ext cx="1311067" cy="4565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dirty="0">
                  <a:latin typeface="Helvetica" pitchFamily="2" charset="0"/>
                </a:rPr>
                <a:t>49 (+1)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420003F8-78FE-4D2D-B1D4-C64603426A04}"/>
                </a:ext>
              </a:extLst>
            </p:cNvPr>
            <p:cNvSpPr/>
            <p:nvPr/>
          </p:nvSpPr>
          <p:spPr>
            <a:xfrm>
              <a:off x="3616686" y="4008941"/>
              <a:ext cx="552476" cy="41459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itchFamily="2" charset="0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1DBE699B-5A03-4B5C-8C21-E267C20685F7}"/>
                </a:ext>
              </a:extLst>
            </p:cNvPr>
            <p:cNvSpPr/>
            <p:nvPr/>
          </p:nvSpPr>
          <p:spPr>
            <a:xfrm>
              <a:off x="3497877" y="3949722"/>
              <a:ext cx="788374" cy="4565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dirty="0">
                  <a:latin typeface="Helvetica" pitchFamily="2" charset="0"/>
                </a:rPr>
                <a:t>1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F8993697-B777-49C6-95D9-1A984BEBD122}"/>
                </a:ext>
              </a:extLst>
            </p:cNvPr>
            <p:cNvSpPr/>
            <p:nvPr/>
          </p:nvSpPr>
          <p:spPr>
            <a:xfrm>
              <a:off x="6283397" y="4008941"/>
              <a:ext cx="918769" cy="41459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itchFamily="2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096BB1EA-7973-4A1D-8246-42EF21C864EC}"/>
                </a:ext>
              </a:extLst>
            </p:cNvPr>
            <p:cNvSpPr/>
            <p:nvPr/>
          </p:nvSpPr>
          <p:spPr>
            <a:xfrm>
              <a:off x="7315079" y="4008941"/>
              <a:ext cx="918769" cy="41459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itchFamily="2" charset="0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7732BE2F-82CC-41B3-9CBD-963DE69F32B3}"/>
                </a:ext>
              </a:extLst>
            </p:cNvPr>
            <p:cNvSpPr/>
            <p:nvPr/>
          </p:nvSpPr>
          <p:spPr>
            <a:xfrm>
              <a:off x="7117500" y="3949722"/>
              <a:ext cx="1311067" cy="4565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en-US" dirty="0">
                <a:latin typeface="Helvetica" pitchFamily="2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F7E9967B-6998-49A8-9B73-88CC370950DE}"/>
                </a:ext>
              </a:extLst>
            </p:cNvPr>
            <p:cNvSpPr/>
            <p:nvPr/>
          </p:nvSpPr>
          <p:spPr>
            <a:xfrm>
              <a:off x="8346761" y="4008941"/>
              <a:ext cx="918769" cy="41459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itchFamily="2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901ED01-5EC5-4C55-87B9-B63A057D1C9A}"/>
                </a:ext>
              </a:extLst>
            </p:cNvPr>
            <p:cNvSpPr/>
            <p:nvPr/>
          </p:nvSpPr>
          <p:spPr>
            <a:xfrm>
              <a:off x="8149182" y="3949722"/>
              <a:ext cx="1311067" cy="4565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en-US" dirty="0">
                <a:latin typeface="Helvetic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83079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CDD0391-E4FB-4F15-B2A6-CB2975C869AD}"/>
              </a:ext>
            </a:extLst>
          </p:cNvPr>
          <p:cNvSpPr/>
          <p:nvPr/>
        </p:nvSpPr>
        <p:spPr>
          <a:xfrm>
            <a:off x="2667000" y="2951947"/>
            <a:ext cx="6858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0000"/>
                </a:solidFill>
                <a:latin typeface="Helvetica" pitchFamily="2" charset="0"/>
              </a:rPr>
              <a:t>Thank you.</a:t>
            </a:r>
            <a:endParaRPr lang="en-US" sz="2800" b="0" dirty="0">
              <a:effectLst/>
              <a:latin typeface="Helvetica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024473-9154-4CD0-B4CD-F68297499C48}"/>
              </a:ext>
            </a:extLst>
          </p:cNvPr>
          <p:cNvSpPr/>
          <p:nvPr/>
        </p:nvSpPr>
        <p:spPr>
          <a:xfrm>
            <a:off x="164306" y="164306"/>
            <a:ext cx="11863388" cy="65293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708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545</Words>
  <Application>Microsoft Office PowerPoint</Application>
  <PresentationFormat>Widescreen</PresentationFormat>
  <Paragraphs>147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Ayesha Siddiqua</dc:creator>
  <cp:lastModifiedBy>Ayesha Siddiqua</cp:lastModifiedBy>
  <cp:revision>17</cp:revision>
  <dcterms:created xsi:type="dcterms:W3CDTF">2025-12-02T00:22:07Z</dcterms:created>
  <dcterms:modified xsi:type="dcterms:W3CDTF">2025-12-22T18:38:36Z</dcterms:modified>
</cp:coreProperties>
</file>